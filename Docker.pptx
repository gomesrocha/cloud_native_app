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9E4A1E-2FEE-4156-8072-0DFF6BCBC967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1EAD4D-CE09-4C0F-AC03-57B15E2C4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6BCE21-4BFD-40AC-9153-FE0A0F2A9B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94897-4085-4A80-9493-77DB10B3A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9E3188-F5CD-4451-BDF7-9D7D1A5667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8302B3-B503-43B5-8D04-B7B3583C23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68A5D6-348A-446F-B9BA-4E0DA049D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304B8-89E7-4C39-9666-2B555139F6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EC9812-B0AA-4429-9C22-BD75C287A0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ADAD2F-CB8B-4F1B-92FC-12814B058A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DB31D1-9B7D-4DBB-A56C-5757D9E2CD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578F1-B813-449C-826B-E885891423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A2B88-8171-4881-9060-68256DFB8F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D18A7-F465-4AF6-8824-CCF5A15674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BF7BD4-967B-4A31-8D90-AF4A4512D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564DB-4F05-4A47-A4EC-A4E03AE95E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6B1685-989E-4DDC-8FE3-B2C15EC48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7B1EF3-5FDC-4C79-920E-D104ECB747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9B5435-0750-4839-8CDB-0E6700D3D2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59BA4-362D-4EAD-A9FF-C4DBC6A37E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66B809-118F-4B90-A0B3-EE31E50F5B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7BB9D1-6405-447A-AB90-A81BD00BAE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A41D33-CC75-4A69-9E94-3102A01BBF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80F3F-5C7F-42AD-80AD-47AAAD022C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E53F1-5418-4A74-92CC-A54A15634B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D3486-0003-41F2-BB27-E59B7D183B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85BBB-5590-402F-A066-15C3B7E177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E2F85-EFD7-4D50-A53F-81DE6DFFAE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8F040-FC44-4982-8BA6-B05A7CB63A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E7784A-4A24-43B3-9FE1-E8F9E0316F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28760" y="967320"/>
            <a:ext cx="554328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4350" b="1" u="none" spc="-3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</a:t>
            </a:r>
            <a:endParaRPr lang="pt-B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lang="en-US" sz="4350" b="1" u="none" spc="-3" strike="noStrike">
                <a:solidFill>
                  <a:srgbClr val="1a1a1a"/>
                </a:solidFill>
                <a:effectLst/>
                <a:uFillTx/>
                <a:latin typeface="Calibri"/>
              </a:rPr>
              <a:t>&amp; Cloud-Native</a:t>
            </a:r>
            <a:endParaRPr lang="pt-B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428760" y="2820240"/>
            <a:ext cx="2658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1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Do Fundamento à Produção</a:t>
            </a:r>
            <a:endParaRPr lang="pt-B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6400800" y="0"/>
            <a:ext cx="2742840" cy="51433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571680" y="571680"/>
            <a:ext cx="85723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571680" y="571680"/>
            <a:ext cx="70920" cy="46584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85880" y="571680"/>
            <a:ext cx="31064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que você vai aprender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857160" y="146628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267920" y="146628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verdadeira origem da containerização: de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chroot (1979)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até Docker (2013)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857840" y="146628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268600" y="146628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Como funcionam os mecanismos internos: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Namespaces e Cgroups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857160" y="242064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267920" y="242064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Diferenças fundamentais entre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Virtualização e Containerização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857840" y="242064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04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5268600" y="242064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avançado: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segurança, redes e armazenamento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857160" y="315216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1267920" y="315216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Kubernetes: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orquestração, segurança e aplicações com estado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4857840" y="3152160"/>
            <a:ext cx="206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06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5268600" y="3152160"/>
            <a:ext cx="3017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Padrões cloud-native: </a:t>
            </a: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resiliência, observabilidade e CI/CD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71680" y="428760"/>
            <a:ext cx="2753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Mágica dos Containers</a:t>
            </a:r>
            <a:endParaRPr lang="pt-B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71680" y="1428840"/>
            <a:ext cx="8000640" cy="9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01"/>
              </a:lnSpc>
              <a:tabLst>
                <a:tab algn="l" pos="0"/>
              </a:tabLst>
            </a:pPr>
            <a:r>
              <a:rPr lang="en-US" sz="304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 container é um </a:t>
            </a:r>
            <a:r>
              <a:rPr lang="en-US" sz="286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processo isolado</a:t>
            </a:r>
            <a:r>
              <a:rPr lang="en-US" sz="304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com restrições de recursos, não uma "coisa" mágica.</a:t>
            </a:r>
            <a:endParaRPr lang="pt-BR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571680" y="3540600"/>
            <a:ext cx="6793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Containers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71680" y="3845880"/>
            <a:ext cx="36000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Compartilham o mesmo kernel do host. Cada um tem sua visão isolada do sistema.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971960" y="3540600"/>
            <a:ext cx="11523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Máquinas Virtuais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971960" y="3845880"/>
            <a:ext cx="36000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Emulam hardware completo. Cada VM tem seu próprio kernel e sistema operacional.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71680" y="428760"/>
            <a:ext cx="199512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Linha do Tempo</a:t>
            </a:r>
            <a:endParaRPr lang="pt-B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71680" y="119484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1979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2600280" y="1266120"/>
            <a:ext cx="4154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chroot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2600280" y="1528920"/>
            <a:ext cx="29941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Isolamento de sistema de arquivos (Unix V7). O início de tudo.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71680" y="184680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2000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2600280" y="1918080"/>
            <a:ext cx="825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FreeBSD Jails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2600280" y="2180520"/>
            <a:ext cx="319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Primeiro container verdadeiro com isolamento de rede e usuários.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71680" y="249840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2005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2600280" y="2570040"/>
            <a:ext cx="826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Solaris Zones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2600280" y="2832480"/>
            <a:ext cx="2386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Virtualização sofisticada e robusta no nível do SO.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571680" y="315036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2006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2600280" y="3222000"/>
            <a:ext cx="9932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Google Cgroups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2600280" y="3484440"/>
            <a:ext cx="29178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Controle e limitação de recursos (CPU, RAM) para processos.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71680" y="380232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2008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2600280" y="3873600"/>
            <a:ext cx="14025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LXC (Linux Containers)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2600280" y="4136400"/>
            <a:ext cx="2971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Unificação de Namespaces e Cgroups em uma solução usável.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71680" y="4454280"/>
            <a:ext cx="142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algn="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2013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2600280" y="4525560"/>
            <a:ext cx="4424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2600280" y="4788000"/>
            <a:ext cx="33138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Democratização dos containers com imagens portáveis e CLI simples.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0"/>
          <p:cNvSpPr/>
          <p:nvPr/>
        </p:nvSpPr>
        <p:spPr>
          <a:xfrm>
            <a:off x="428760" y="571680"/>
            <a:ext cx="43412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Namespaces - Criando Isolamento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28760" y="1180440"/>
            <a:ext cx="57146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Namespaces particionam recursos do kernel para que processos vejam diferentes visões do sistema, criando a ilusão de exclusividade.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428760" y="1874880"/>
            <a:ext cx="8286480" cy="25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28760" y="1874880"/>
            <a:ext cx="828648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571680" y="428760"/>
            <a:ext cx="32889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Cgroups - Limitando Recursos</a:t>
            </a:r>
            <a:endParaRPr lang="pt-B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71680" y="909000"/>
            <a:ext cx="4928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Control Groups restringem o consumo de recursos por grupos de processos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71680" y="1500120"/>
            <a:ext cx="3893040" cy="124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71680" y="1500120"/>
            <a:ext cx="42480" cy="1249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/>
          <a:stretch/>
        </p:blipFill>
        <p:spPr>
          <a:xfrm>
            <a:off x="785880" y="175752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4"/>
          <p:cNvSpPr/>
          <p:nvPr/>
        </p:nvSpPr>
        <p:spPr>
          <a:xfrm>
            <a:off x="1214280" y="1735200"/>
            <a:ext cx="3038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CPU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85880" y="2115360"/>
            <a:ext cx="34642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1012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Peso relativo ou quota máxima de processamento.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679280" y="1500120"/>
            <a:ext cx="3893040" cy="124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4679280" y="1500120"/>
            <a:ext cx="42480" cy="1249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4893480" y="185724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8"/>
          <p:cNvSpPr/>
          <p:nvPr/>
        </p:nvSpPr>
        <p:spPr>
          <a:xfrm>
            <a:off x="5322240" y="1834920"/>
            <a:ext cx="6764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Memória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893480" y="2215440"/>
            <a:ext cx="2688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1012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Limite rígido (hard limit) de uso de RAM.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571680" y="2964600"/>
            <a:ext cx="3893040" cy="124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571680" y="2964600"/>
            <a:ext cx="42480" cy="1249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3" descr="preencoded.png"/>
          <p:cNvPicPr/>
          <p:nvPr/>
        </p:nvPicPr>
        <p:blipFill>
          <a:blip r:embed="rId4"/>
          <a:stretch/>
        </p:blipFill>
        <p:spPr>
          <a:xfrm>
            <a:off x="785880" y="332172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12"/>
          <p:cNvSpPr/>
          <p:nvPr/>
        </p:nvSpPr>
        <p:spPr>
          <a:xfrm>
            <a:off x="1214280" y="3299400"/>
            <a:ext cx="9007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I/O de Disco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785880" y="3679920"/>
            <a:ext cx="24904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1012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Taxa de leitura/escrita (IOPS ou BPS).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4"/>
          <p:cNvSpPr/>
          <p:nvPr/>
        </p:nvSpPr>
        <p:spPr>
          <a:xfrm>
            <a:off x="4679280" y="2964600"/>
            <a:ext cx="3893040" cy="124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4679280" y="2964600"/>
            <a:ext cx="42480" cy="1249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4" descr="preencoded.png"/>
          <p:cNvPicPr/>
          <p:nvPr/>
        </p:nvPicPr>
        <p:blipFill>
          <a:blip r:embed="rId5"/>
          <a:stretch/>
        </p:blipFill>
        <p:spPr>
          <a:xfrm>
            <a:off x="4893480" y="332172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16"/>
          <p:cNvSpPr/>
          <p:nvPr/>
        </p:nvSpPr>
        <p:spPr>
          <a:xfrm>
            <a:off x="5322240" y="3299400"/>
            <a:ext cx="3704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Rede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4893480" y="3679920"/>
            <a:ext cx="2894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1012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Prioridade de tráfego e limite de bandwidth.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0" y="4187880"/>
            <a:ext cx="9143640" cy="59796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0" y="4187880"/>
            <a:ext cx="914364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040" bIns="14004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 container = </a:t>
            </a: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Namespaces</a:t>
            </a: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(isolamento) + </a:t>
            </a: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Cgroups</a:t>
            </a: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(restrição)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0"/>
          <p:cNvSpPr/>
          <p:nvPr/>
        </p:nvSpPr>
        <p:spPr>
          <a:xfrm>
            <a:off x="571680" y="428760"/>
            <a:ext cx="3670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Virtualização vs. Containerização</a:t>
            </a:r>
            <a:endParaRPr lang="pt-B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71680" y="1124640"/>
            <a:ext cx="1599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Aspecto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2171880" y="1124640"/>
            <a:ext cx="32000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0" bIns="16992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Máquinas Virtuais (VMs)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5372280" y="1124640"/>
            <a:ext cx="32000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Containers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71680" y="147528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Nível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2171880" y="147528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Hardware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372280" y="147528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Sistema Operacional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71680" y="1944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Isolamento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2171880" y="1944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Muito forte (kernel isolado)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5372280" y="1944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Forte (kernel compartilhado)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571680" y="2403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Overhead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2171880" y="2403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Alto (SO completo por VM)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5372280" y="2403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Muito baixo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71680" y="2862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Tamanho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2171880" y="2862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Gigabytes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372280" y="2862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Dezenas/centenas MB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571680" y="3321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Inicialização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2171880" y="3321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Minutos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5372280" y="3321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Segundos/milissegundos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571680" y="3780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Densidade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2171880" y="3780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Baixa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5372280" y="3780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Alta (centenas por host)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571680" y="4239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Performance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2171880" y="4239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Quase nativa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4"/>
          <p:cNvSpPr/>
          <p:nvPr/>
        </p:nvSpPr>
        <p:spPr>
          <a:xfrm>
            <a:off x="5372280" y="4239720"/>
            <a:ext cx="32000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Praticamente nativa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71680" y="571680"/>
            <a:ext cx="30452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Quando Usar Cada Um?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571680" y="1609200"/>
            <a:ext cx="8000640" cy="27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571680" y="1609200"/>
            <a:ext cx="80006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71680" y="1895040"/>
            <a:ext cx="14295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Use VMs quando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800280" y="2421720"/>
            <a:ext cx="34858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Precisa de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isolamento máximo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(multi-tenant)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800280" y="3044520"/>
            <a:ext cx="34858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Executa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SOs diferentes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(ex: Windows + Linux no mesmo host)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800280" y="3667680"/>
            <a:ext cx="34858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Regras de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compliance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exigem isolamento forte de hardware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4865040" y="1895040"/>
            <a:ext cx="19540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Use Containers quando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093640" y="2421720"/>
            <a:ext cx="31928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Precisa de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agilidade e velocidade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de deploy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093640" y="3044520"/>
            <a:ext cx="31928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Desenvolve arquitetura de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microsserviços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093640" y="3667680"/>
            <a:ext cx="31928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Quer </a:t>
            </a: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maximizar a utilização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de recursos do servidor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71680" y="571680"/>
            <a:ext cx="23425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Padrões de Design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71680" y="1109160"/>
            <a:ext cx="30488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Arquiteturas multi-container em um único Pod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571680" y="1771560"/>
            <a:ext cx="8000640" cy="264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571680" y="1771560"/>
            <a:ext cx="80006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571680" y="4412880"/>
            <a:ext cx="8000640" cy="684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785880" y="2057400"/>
            <a:ext cx="428400" cy="4284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1" descr="preencoded.png"/>
          <p:cNvPicPr/>
          <p:nvPr/>
        </p:nvPicPr>
        <p:blipFill>
          <a:blip r:embed="rId1"/>
          <a:stretch/>
        </p:blipFill>
        <p:spPr>
          <a:xfrm>
            <a:off x="900000" y="21718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6"/>
          <p:cNvSpPr/>
          <p:nvPr/>
        </p:nvSpPr>
        <p:spPr>
          <a:xfrm>
            <a:off x="785880" y="2700360"/>
            <a:ext cx="6127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Sidecar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785880" y="3155760"/>
            <a:ext cx="223092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Container auxiliar que </a:t>
            </a: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estende a funcionalidade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do container principal (ex: logging, sync de arquivos).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3452760" y="2057400"/>
            <a:ext cx="428400" cy="4284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preencoded.png"/>
          <p:cNvPicPr/>
          <p:nvPr/>
        </p:nvPicPr>
        <p:blipFill>
          <a:blip r:embed="rId2"/>
          <a:stretch/>
        </p:blipFill>
        <p:spPr>
          <a:xfrm>
            <a:off x="3567240" y="21718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9"/>
          <p:cNvSpPr/>
          <p:nvPr/>
        </p:nvSpPr>
        <p:spPr>
          <a:xfrm>
            <a:off x="3452760" y="2700360"/>
            <a:ext cx="1048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Ambassador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3452760" y="3155760"/>
            <a:ext cx="223092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Atua como um </a:t>
            </a: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proxy inteligente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que simplifica a comunicação de rede para o mundo externo.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6119640" y="2057400"/>
            <a:ext cx="428400" cy="4284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3" descr="preencoded.png"/>
          <p:cNvPicPr/>
          <p:nvPr/>
        </p:nvPicPr>
        <p:blipFill>
          <a:blip r:embed="rId3"/>
          <a:stretch/>
        </p:blipFill>
        <p:spPr>
          <a:xfrm>
            <a:off x="6234120" y="21718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12"/>
          <p:cNvSpPr/>
          <p:nvPr/>
        </p:nvSpPr>
        <p:spPr>
          <a:xfrm>
            <a:off x="6119640" y="2700360"/>
            <a:ext cx="6822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Adapter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6119640" y="3155760"/>
            <a:ext cx="223812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Normaliza a saída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de dados (logs, métricas) para um formato padrão esperado pelo sistema.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571680" y="428760"/>
            <a:ext cx="38696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Construindo um Container na Mão</a:t>
            </a:r>
            <a:endParaRPr lang="pt-B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71680" y="1123200"/>
            <a:ext cx="28573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 ferramentas nativas do Linux, é possível criar um container "do zero".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571680" y="2109240"/>
            <a:ext cx="28573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comando </a:t>
            </a: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unshare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cria novos Namespaces.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571680" y="2837880"/>
            <a:ext cx="28573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As ferramentas </a:t>
            </a: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cgcreate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 </a:t>
            </a: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cgset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manipulam os Cgroups.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571680" y="3637800"/>
            <a:ext cx="285732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 Docker automatiza toda essa complexidade em uma interface simples.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3857760" y="1123200"/>
            <a:ext cx="4714560" cy="28573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3857760" y="1123200"/>
            <a:ext cx="70920" cy="28573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3857760" y="1123200"/>
            <a:ext cx="4714560" cy="23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0200" rIns="340200" tIns="340200" bIns="340200" anchor="t">
            <a:spAutoFit/>
          </a:bodyPr>
          <a:p>
            <a:r>
              <a:rPr lang="en-US" sz="1050" b="0" i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# 1. Isolar hostname (UTS Namespace)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unshare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--fork --uts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/bin/bash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i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# 2. Isolar processos (PID Namespace)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unshare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--fork --uts --pid --mount-proc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/bin/bash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i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# 3. Limitar memória (Cgroups)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cgcreate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-g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memory:meu-grupo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cgset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-r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memory.limit_in_bytes=100M</a:t>
            </a:r>
            <a:r>
              <a:rPr lang="en-US" sz="105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 meu-grupo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cgexec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-g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memory:meu-grupo</a:t>
            </a:r>
            <a:r>
              <a:rPr lang="en-US" sz="98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unshare</a:t>
            </a:r>
            <a:r>
              <a:rPr lang="en-US" sz="1050" b="0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--fork</a:t>
            </a:r>
            <a:r>
              <a:rPr lang="en-US" sz="1050" b="0" u="none" strike="noStrike">
                <a:solidFill>
                  <a:srgbClr val="2196f3"/>
                </a:solidFill>
                <a:effectLst/>
                <a:uFillTx/>
                <a:latin typeface="Calibri"/>
              </a:rPr>
              <a:t>/bin/bash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71680" y="571680"/>
            <a:ext cx="57146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Docker: Revolucionando Containers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71680" y="1997280"/>
            <a:ext cx="280008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Docker não inventou os containers, mas os tornou </a:t>
            </a: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populares e acessíveis</a:t>
            </a: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3772080" y="1754640"/>
            <a:ext cx="356760" cy="35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1"/>
          <a:stretch/>
        </p:blipFill>
        <p:spPr>
          <a:xfrm>
            <a:off x="3879000" y="186156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3"/>
          <p:cNvSpPr/>
          <p:nvPr/>
        </p:nvSpPr>
        <p:spPr>
          <a:xfrm>
            <a:off x="4272120" y="1754640"/>
            <a:ext cx="1249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Imagens em Camadas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4272120" y="2004480"/>
            <a:ext cx="179280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Eficientes, reutilizáveis e leves.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6279480" y="1754640"/>
            <a:ext cx="356760" cy="35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2" descr="preencoded.png"/>
          <p:cNvPicPr/>
          <p:nvPr/>
        </p:nvPicPr>
        <p:blipFill>
          <a:blip r:embed="rId2"/>
          <a:stretch/>
        </p:blipFill>
        <p:spPr>
          <a:xfrm>
            <a:off x="6404400" y="1861560"/>
            <a:ext cx="10692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6"/>
          <p:cNvSpPr/>
          <p:nvPr/>
        </p:nvSpPr>
        <p:spPr>
          <a:xfrm>
            <a:off x="6779520" y="1754640"/>
            <a:ext cx="583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Dockerfile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6779520" y="2004480"/>
            <a:ext cx="17928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Definição declarativa e versionável de infraestrutura.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3772080" y="2553120"/>
            <a:ext cx="356760" cy="35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3" descr="preencoded.png"/>
          <p:cNvPicPr/>
          <p:nvPr/>
        </p:nvPicPr>
        <p:blipFill>
          <a:blip r:embed="rId3"/>
          <a:stretch/>
        </p:blipFill>
        <p:spPr>
          <a:xfrm>
            <a:off x="3861360" y="266040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9"/>
          <p:cNvSpPr/>
          <p:nvPr/>
        </p:nvSpPr>
        <p:spPr>
          <a:xfrm>
            <a:off x="4272120" y="2553120"/>
            <a:ext cx="670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 Hub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4272120" y="2803320"/>
            <a:ext cx="17928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Registro centralizado para compartilhamento global.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6279480" y="2553120"/>
            <a:ext cx="356760" cy="35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4" descr="preencoded.png"/>
          <p:cNvPicPr/>
          <p:nvPr/>
        </p:nvPicPr>
        <p:blipFill>
          <a:blip r:embed="rId4"/>
          <a:stretch/>
        </p:blipFill>
        <p:spPr>
          <a:xfrm>
            <a:off x="6377760" y="2660400"/>
            <a:ext cx="160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2"/>
          <p:cNvSpPr/>
          <p:nvPr/>
        </p:nvSpPr>
        <p:spPr>
          <a:xfrm>
            <a:off x="6779520" y="2553120"/>
            <a:ext cx="647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CLI Simples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6779520" y="2803320"/>
            <a:ext cx="17928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Interface intuitiva para todos os desenvolvedores.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3772080" y="3351600"/>
            <a:ext cx="356760" cy="35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5" descr="preencoded.png"/>
          <p:cNvPicPr/>
          <p:nvPr/>
        </p:nvPicPr>
        <p:blipFill>
          <a:blip r:embed="rId5"/>
          <a:stretch/>
        </p:blipFill>
        <p:spPr>
          <a:xfrm>
            <a:off x="3879000" y="345888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15"/>
          <p:cNvSpPr/>
          <p:nvPr/>
        </p:nvSpPr>
        <p:spPr>
          <a:xfrm>
            <a:off x="4272120" y="3351600"/>
            <a:ext cx="694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Ecossistema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4272120" y="3601800"/>
            <a:ext cx="245844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Ferramentas integradas (Compose, Swarm, Buildx).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71680" y="571680"/>
            <a:ext cx="250704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Segurança de Imagens Docker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71680" y="1988640"/>
            <a:ext cx="250704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 segurança começa na construção da imagem. Reduza a superfície de ataque.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preencoded.png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571680" y="2780280"/>
            <a:ext cx="250704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Shape 2"/>
          <p:cNvSpPr/>
          <p:nvPr/>
        </p:nvSpPr>
        <p:spPr>
          <a:xfrm>
            <a:off x="3772080" y="571680"/>
            <a:ext cx="48002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3772080" y="571680"/>
            <a:ext cx="42480" cy="685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2" descr="preencoded.png"/>
          <p:cNvPicPr/>
          <p:nvPr/>
        </p:nvPicPr>
        <p:blipFill>
          <a:blip r:embed="rId2"/>
          <a:stretch/>
        </p:blipFill>
        <p:spPr>
          <a:xfrm>
            <a:off x="3939840" y="817200"/>
            <a:ext cx="249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4"/>
          <p:cNvSpPr/>
          <p:nvPr/>
        </p:nvSpPr>
        <p:spPr>
          <a:xfrm>
            <a:off x="4386240" y="685800"/>
            <a:ext cx="2107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Imagens Base Oficiais e Minimalistas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4386240" y="928800"/>
            <a:ext cx="226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4705920" y="928800"/>
            <a:ext cx="368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alpine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271840" y="928800"/>
            <a:ext cx="156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ou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5545800" y="928800"/>
            <a:ext cx="244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slim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5922720" y="928800"/>
            <a:ext cx="1780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para reduzir vulnerabilidades.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3772080" y="1400040"/>
            <a:ext cx="48002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3772080" y="1400040"/>
            <a:ext cx="42480" cy="685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3" descr="preencoded.png"/>
          <p:cNvPicPr/>
          <p:nvPr/>
        </p:nvPicPr>
        <p:blipFill>
          <a:blip r:embed="rId3"/>
          <a:stretch/>
        </p:blipFill>
        <p:spPr>
          <a:xfrm>
            <a:off x="3964680" y="164592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2"/>
          <p:cNvSpPr/>
          <p:nvPr/>
        </p:nvSpPr>
        <p:spPr>
          <a:xfrm>
            <a:off x="4386240" y="1514520"/>
            <a:ext cx="1437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Scan de Vulnerabilidades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4386240" y="1757520"/>
            <a:ext cx="2823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Ferramentas como Trivy, Snyk ou Docker Scout.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3772080" y="2228760"/>
            <a:ext cx="48002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3772080" y="2228760"/>
            <a:ext cx="42480" cy="685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4" descr="preencoded.png"/>
          <p:cNvPicPr/>
          <p:nvPr/>
        </p:nvPicPr>
        <p:blipFill>
          <a:blip r:embed="rId4"/>
          <a:stretch/>
        </p:blipFill>
        <p:spPr>
          <a:xfrm>
            <a:off x="3939840" y="2474280"/>
            <a:ext cx="249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6"/>
          <p:cNvSpPr/>
          <p:nvPr/>
        </p:nvSpPr>
        <p:spPr>
          <a:xfrm>
            <a:off x="4386240" y="2343240"/>
            <a:ext cx="1028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Usuário Não-Root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4386240" y="2585880"/>
            <a:ext cx="871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Sempre defina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5502240" y="2585880"/>
            <a:ext cx="649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USER 1000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6350760" y="2585880"/>
            <a:ext cx="831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 Dockerfile.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3772080" y="3057480"/>
            <a:ext cx="4800240" cy="899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3772080" y="3057480"/>
            <a:ext cx="42480" cy="8996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5" descr="preencoded.png"/>
          <p:cNvPicPr/>
          <p:nvPr/>
        </p:nvPicPr>
        <p:blipFill>
          <a:blip r:embed="rId5"/>
          <a:stretch/>
        </p:blipFill>
        <p:spPr>
          <a:xfrm>
            <a:off x="3942720" y="34102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22"/>
          <p:cNvSpPr/>
          <p:nvPr/>
        </p:nvSpPr>
        <p:spPr>
          <a:xfrm>
            <a:off x="4342320" y="3171960"/>
            <a:ext cx="1146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Builds Multi-Estágio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4342320" y="3414600"/>
            <a:ext cx="3245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Copie apenas o binário final, descartando ferramentas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4342320" y="3629160"/>
            <a:ext cx="523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 build.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3772080" y="4100400"/>
            <a:ext cx="48002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6"/>
          <p:cNvSpPr/>
          <p:nvPr/>
        </p:nvSpPr>
        <p:spPr>
          <a:xfrm>
            <a:off x="3772080" y="4100400"/>
            <a:ext cx="42480" cy="685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6" descr="preencoded.png"/>
          <p:cNvPicPr/>
          <p:nvPr/>
        </p:nvPicPr>
        <p:blipFill>
          <a:blip r:embed="rId6"/>
          <a:stretch/>
        </p:blipFill>
        <p:spPr>
          <a:xfrm>
            <a:off x="3952440" y="4345920"/>
            <a:ext cx="2246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7"/>
          <p:cNvSpPr/>
          <p:nvPr/>
        </p:nvSpPr>
        <p:spPr>
          <a:xfrm>
            <a:off x="4386240" y="4214880"/>
            <a:ext cx="1297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Assinatura de Imagens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4386240" y="4457880"/>
            <a:ext cx="29790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Garanta a procedência com Docker Content Trust.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571680" y="571680"/>
            <a:ext cx="1729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Redes Docker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71680" y="1328400"/>
            <a:ext cx="15998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274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Driver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2171880" y="1328400"/>
            <a:ext cx="24001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274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Uso Principal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4572000" y="1328400"/>
            <a:ext cx="40003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274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Características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571680" y="163944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bridge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2171880" y="1639440"/>
            <a:ext cx="24001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Padrão (Standalone)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4572000" y="1639440"/>
            <a:ext cx="40003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Comunicação entre containers no mesmo host via IP privado.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571680" y="226116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host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2171880" y="2261160"/>
            <a:ext cx="24001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Performance / IoT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4572000" y="2261160"/>
            <a:ext cx="400032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7440" bIns="1274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Remove isolamento de rede; container usa a interface do host diretamente.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571680" y="287172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overlay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2171880" y="2871720"/>
            <a:ext cx="24001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Multi-host (Swarm)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2"/>
          <p:cNvSpPr/>
          <p:nvPr/>
        </p:nvSpPr>
        <p:spPr>
          <a:xfrm>
            <a:off x="4572000" y="2871720"/>
            <a:ext cx="40003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Cria uma rede distribuída entre múltiplos daemons Docker.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571680" y="328788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macvlan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2171880" y="3287880"/>
            <a:ext cx="24001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Legado / Migração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4572000" y="3287880"/>
            <a:ext cx="400032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7440" bIns="1274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Atribui um endereço MAC ao container, aparecendo como dispositivo físico.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571680" y="3898800"/>
            <a:ext cx="15998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none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2171880" y="3898800"/>
            <a:ext cx="24001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Segurança Máxima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4572000" y="3898800"/>
            <a:ext cx="400032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Desabilita toda a rede. Container fica totalmente isolado.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9"/>
          <p:cNvSpPr/>
          <p:nvPr/>
        </p:nvSpPr>
        <p:spPr>
          <a:xfrm>
            <a:off x="459360" y="4365360"/>
            <a:ext cx="8000640" cy="67464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0"/>
          <p:cNvSpPr/>
          <p:nvPr/>
        </p:nvSpPr>
        <p:spPr>
          <a:xfrm>
            <a:off x="459360" y="4365360"/>
            <a:ext cx="42480" cy="67464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459360" y="4365360"/>
            <a:ext cx="80006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Melhor Prática: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Sempre crie redes bridge customizadas (`docker network create`) para habilitar resolução de DNS automática entre containers.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71680" y="571680"/>
            <a:ext cx="35614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Armazenamento em Docker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71680" y="1330200"/>
            <a:ext cx="19998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022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Tipo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2571840" y="1330200"/>
            <a:ext cx="24001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022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Gerenciamento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4971960" y="1330200"/>
            <a:ext cx="36000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0224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Uso Recomendado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1" descr="preencoded.png"/>
          <p:cNvPicPr/>
          <p:nvPr/>
        </p:nvPicPr>
        <p:blipFill>
          <a:blip r:embed="rId1"/>
          <a:stretch/>
        </p:blipFill>
        <p:spPr>
          <a:xfrm>
            <a:off x="571680" y="179316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4"/>
          <p:cNvSpPr/>
          <p:nvPr/>
        </p:nvSpPr>
        <p:spPr>
          <a:xfrm>
            <a:off x="857160" y="1760760"/>
            <a:ext cx="5464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Volumes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2571840" y="1618200"/>
            <a:ext cx="24001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880" bIns="1018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(FS isolado)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4971960" y="1760760"/>
            <a:ext cx="599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Produção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5779080" y="1760760"/>
            <a:ext cx="2252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Persistência de dados (DBs, logs).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2" descr="preencoded.png"/>
          <p:cNvPicPr/>
          <p:nvPr/>
        </p:nvPicPr>
        <p:blipFill>
          <a:blip r:embed="rId2"/>
          <a:stretch/>
        </p:blipFill>
        <p:spPr>
          <a:xfrm>
            <a:off x="571680" y="229140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8"/>
          <p:cNvSpPr/>
          <p:nvPr/>
        </p:nvSpPr>
        <p:spPr>
          <a:xfrm>
            <a:off x="857160" y="2259360"/>
            <a:ext cx="8125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Bind Mounts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2571840" y="2126880"/>
            <a:ext cx="24001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880" bIns="1018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Host (FS direto)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4971960" y="2259360"/>
            <a:ext cx="11044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Desenvolvimento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6120000" y="2259360"/>
            <a:ext cx="3299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Compartilhar código-fonte (hot-reload).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3" descr="preencoded.png"/>
          <p:cNvPicPr/>
          <p:nvPr/>
        </p:nvPicPr>
        <p:blipFill>
          <a:blip r:embed="rId3"/>
          <a:stretch/>
        </p:blipFill>
        <p:spPr>
          <a:xfrm>
            <a:off x="571680" y="302364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2"/>
          <p:cNvSpPr/>
          <p:nvPr/>
        </p:nvSpPr>
        <p:spPr>
          <a:xfrm>
            <a:off x="857160" y="2991600"/>
            <a:ext cx="380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Tmpfs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2571840" y="2859120"/>
            <a:ext cx="24001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880" bIns="1018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Memória (RAM)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971960" y="2991600"/>
            <a:ext cx="1217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Dados Temporários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6189840" y="2991600"/>
            <a:ext cx="33948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Alta performance ou dados 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sensíveis (chaves).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6"/>
          <p:cNvSpPr/>
          <p:nvPr/>
        </p:nvSpPr>
        <p:spPr>
          <a:xfrm>
            <a:off x="571680" y="3737880"/>
            <a:ext cx="8000640" cy="6368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4" descr="preencoded.png"/>
          <p:cNvPicPr/>
          <p:nvPr/>
        </p:nvPicPr>
        <p:blipFill>
          <a:blip r:embed="rId4"/>
          <a:stretch/>
        </p:blipFill>
        <p:spPr>
          <a:xfrm>
            <a:off x="685800" y="3927960"/>
            <a:ext cx="19260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17"/>
          <p:cNvSpPr/>
          <p:nvPr/>
        </p:nvSpPr>
        <p:spPr>
          <a:xfrm>
            <a:off x="1021680" y="3852360"/>
            <a:ext cx="74361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Regra de Ouro:</a:t>
            </a: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Sempre use </a:t>
            </a:r>
            <a:r>
              <a:rPr lang="en-US" sz="10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Volumes</a:t>
            </a: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para dados persistentes em produção. Eles são portáveis, mais seguros e gerenciados inteiramente pelo Docker.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71680" y="571680"/>
            <a:ext cx="9622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 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71680" y="1109160"/>
            <a:ext cx="1625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Orquestrando aplicações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71680" y="1771560"/>
            <a:ext cx="3214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Define e executa aplicações usando Dockerfile.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1" descr="preencoded.png"/>
          <p:cNvPicPr/>
          <p:nvPr/>
        </p:nvPicPr>
        <p:blipFill>
          <a:blip r:embed="rId1"/>
          <a:stretch/>
        </p:blipFill>
        <p:spPr>
          <a:xfrm>
            <a:off x="571680" y="25574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3"/>
          <p:cNvSpPr/>
          <p:nvPr/>
        </p:nvSpPr>
        <p:spPr>
          <a:xfrm>
            <a:off x="821520" y="2500200"/>
            <a:ext cx="18043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Infraestrutura como Código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2" descr="preencoded.png"/>
          <p:cNvPicPr/>
          <p:nvPr/>
        </p:nvPicPr>
        <p:blipFill>
          <a:blip r:embed="rId2"/>
          <a:stretch/>
        </p:blipFill>
        <p:spPr>
          <a:xfrm>
            <a:off x="571680" y="295740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4"/>
          <p:cNvSpPr/>
          <p:nvPr/>
        </p:nvSpPr>
        <p:spPr>
          <a:xfrm>
            <a:off x="857160" y="2900520"/>
            <a:ext cx="1107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Rede automática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3" descr="preencoded.png"/>
          <p:cNvPicPr/>
          <p:nvPr/>
        </p:nvPicPr>
        <p:blipFill>
          <a:blip r:embed="rId3"/>
          <a:stretch/>
        </p:blipFill>
        <p:spPr>
          <a:xfrm>
            <a:off x="571680" y="335772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5"/>
          <p:cNvSpPr/>
          <p:nvPr/>
        </p:nvSpPr>
        <p:spPr>
          <a:xfrm>
            <a:off x="821520" y="3300480"/>
            <a:ext cx="20926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Ciclo de vida simples (up/down)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4" descr="preencoded.png"/>
          <p:cNvPicPr/>
          <p:nvPr/>
        </p:nvPicPr>
        <p:blipFill>
          <a:blip r:embed="rId4"/>
          <a:stretch/>
        </p:blipFill>
        <p:spPr>
          <a:xfrm>
            <a:off x="571680" y="375768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6"/>
          <p:cNvSpPr/>
          <p:nvPr/>
        </p:nvSpPr>
        <p:spPr>
          <a:xfrm>
            <a:off x="857160" y="3700440"/>
            <a:ext cx="2152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Ideal para desenvolvimento local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4214880" y="1771560"/>
            <a:ext cx="4357440" cy="30859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4214880" y="1771560"/>
            <a:ext cx="70920" cy="3085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4214880" y="1771560"/>
            <a:ext cx="4357440" cy="25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0200" rIns="340200" tIns="340200" bIns="340200" anchor="t">
            <a:spAutoFit/>
          </a:bodyPr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# 1. Imagem base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FROM python:3.12-slim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# 2. Diretório de trabalho dentro do container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WORKDIR /app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# 3. Copia os arquivos do projeto para o container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COPY app.py 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# 4. Comando executado quando o container inicia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CMD ["python", "app.py"]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49"/>
          <p:cNvSpPr/>
          <p:nvPr/>
        </p:nvSpPr>
        <p:spPr>
          <a:xfrm>
            <a:off x="571680" y="571680"/>
            <a:ext cx="9622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 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0"/>
          <p:cNvSpPr/>
          <p:nvPr/>
        </p:nvSpPr>
        <p:spPr>
          <a:xfrm>
            <a:off x="571680" y="1109160"/>
            <a:ext cx="1625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Orquestrando aplicações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1"/>
          <p:cNvSpPr/>
          <p:nvPr/>
        </p:nvSpPr>
        <p:spPr>
          <a:xfrm>
            <a:off x="180000" y="1773720"/>
            <a:ext cx="3214440" cy="39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Comandos básicos: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Versão do docker: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version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Informações do ambiente: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info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Lista de imagens locais: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images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images ls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Baixar uma imagem do Docker hub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pull python:3.12-slim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Remover uma imagem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rmi nome-imagem</a:t>
            </a:r>
            <a:br>
              <a:rPr sz="1000"/>
            </a:b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2"/>
          <p:cNvSpPr/>
          <p:nvPr/>
        </p:nvSpPr>
        <p:spPr>
          <a:xfrm>
            <a:off x="6660000" y="1747080"/>
            <a:ext cx="2314440" cy="30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Parar e remover containers: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stop container_id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Iniciar um container parado: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start container_id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Executando comando no container: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exec -it container_id bash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Exemplo básicos: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build -t hello-docker .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-t hello-docker → nome da imagem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→ contexto (diretório atual)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run hello-docker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images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3"/>
          <p:cNvSpPr/>
          <p:nvPr/>
        </p:nvSpPr>
        <p:spPr>
          <a:xfrm>
            <a:off x="2905560" y="1773720"/>
            <a:ext cx="3214440" cy="40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Histórico de camadas da imagem: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history nome-imagem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 de imagem: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build -t minha-imagem .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 sem cache: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build --no-cache -t minha-imagem .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Executar um container: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run minha-imagem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Executar em modo interativo: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run -it ubuntu bash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run -d nginx (Em modo daemon)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Listando containers em execução</a:t>
            </a:r>
            <a:br>
              <a:rPr sz="1000"/>
            </a:b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ps</a:t>
            </a:r>
            <a:br>
              <a:rPr sz="1000"/>
            </a:b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41"/>
          <p:cNvSpPr/>
          <p:nvPr/>
        </p:nvSpPr>
        <p:spPr>
          <a:xfrm>
            <a:off x="571680" y="571680"/>
            <a:ext cx="21499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 Compose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2"/>
          <p:cNvSpPr/>
          <p:nvPr/>
        </p:nvSpPr>
        <p:spPr>
          <a:xfrm>
            <a:off x="571680" y="1109160"/>
            <a:ext cx="26762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Orquestrando aplicações multi-container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3"/>
          <p:cNvSpPr/>
          <p:nvPr/>
        </p:nvSpPr>
        <p:spPr>
          <a:xfrm>
            <a:off x="571680" y="1771560"/>
            <a:ext cx="321444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Define e executa aplicações complexas usando um único arquivo YAML.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12" descr="preencoded.png"/>
          <p:cNvPicPr/>
          <p:nvPr/>
        </p:nvPicPr>
        <p:blipFill>
          <a:blip r:embed="rId1"/>
          <a:stretch/>
        </p:blipFill>
        <p:spPr>
          <a:xfrm>
            <a:off x="571680" y="25574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44"/>
          <p:cNvSpPr/>
          <p:nvPr/>
        </p:nvSpPr>
        <p:spPr>
          <a:xfrm>
            <a:off x="821520" y="2500200"/>
            <a:ext cx="18043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Infraestrutura como Código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13" descr="preencoded.png"/>
          <p:cNvPicPr/>
          <p:nvPr/>
        </p:nvPicPr>
        <p:blipFill>
          <a:blip r:embed="rId2"/>
          <a:stretch/>
        </p:blipFill>
        <p:spPr>
          <a:xfrm>
            <a:off x="571680" y="295740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45"/>
          <p:cNvSpPr/>
          <p:nvPr/>
        </p:nvSpPr>
        <p:spPr>
          <a:xfrm>
            <a:off x="857160" y="2900520"/>
            <a:ext cx="2059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Rede automática entre serviços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14" descr="preencoded.png"/>
          <p:cNvPicPr/>
          <p:nvPr/>
        </p:nvPicPr>
        <p:blipFill>
          <a:blip r:embed="rId3"/>
          <a:stretch/>
        </p:blipFill>
        <p:spPr>
          <a:xfrm>
            <a:off x="571680" y="335772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46"/>
          <p:cNvSpPr/>
          <p:nvPr/>
        </p:nvSpPr>
        <p:spPr>
          <a:xfrm>
            <a:off x="821520" y="3300480"/>
            <a:ext cx="20926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Ciclo de vida simples (up/down)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5" descr="preencoded.png"/>
          <p:cNvPicPr/>
          <p:nvPr/>
        </p:nvPicPr>
        <p:blipFill>
          <a:blip r:embed="rId4"/>
          <a:stretch/>
        </p:blipFill>
        <p:spPr>
          <a:xfrm>
            <a:off x="571680" y="375768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47"/>
          <p:cNvSpPr/>
          <p:nvPr/>
        </p:nvSpPr>
        <p:spPr>
          <a:xfrm>
            <a:off x="857160" y="3700440"/>
            <a:ext cx="21524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Ideal para desenvolvimento local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4"/>
          <p:cNvSpPr/>
          <p:nvPr/>
        </p:nvSpPr>
        <p:spPr>
          <a:xfrm>
            <a:off x="4214880" y="1771560"/>
            <a:ext cx="4357440" cy="30859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8"/>
          <p:cNvSpPr/>
          <p:nvPr/>
        </p:nvSpPr>
        <p:spPr>
          <a:xfrm>
            <a:off x="4214880" y="1771560"/>
            <a:ext cx="70920" cy="3085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48"/>
          <p:cNvSpPr/>
          <p:nvPr/>
        </p:nvSpPr>
        <p:spPr>
          <a:xfrm>
            <a:off x="4214880" y="1771560"/>
            <a:ext cx="4357440" cy="25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0200" rIns="340200" tIns="340200" bIns="340200" anchor="t">
            <a:spAutoFit/>
          </a:bodyPr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version:</a:t>
            </a:r>
            <a:r>
              <a:rPr lang="en-US" sz="1050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'3.8'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services: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web: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build:</a:t>
            </a:r>
            <a:r>
              <a:rPr lang="en-US" sz="1050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ports:</a:t>
            </a:r>
            <a:r>
              <a:rPr lang="en-US" sz="1050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["5000:5000"]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db: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image:</a:t>
            </a:r>
            <a:r>
              <a:rPr lang="en-US" sz="1050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postgres:13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volumes: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 - </a:t>
            </a:r>
            <a:r>
              <a:rPr lang="en-US" sz="1050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pg_data:/var/lib/postgresql/data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volumes: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pg_data: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71680" y="571680"/>
            <a:ext cx="33382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Kubernetes: Orquestração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71680" y="1109160"/>
            <a:ext cx="32965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Automação completa do ciclo de vida da aplicação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1" descr="preencoded.png"/>
          <p:cNvPicPr/>
          <p:nvPr/>
        </p:nvPicPr>
        <p:blipFill>
          <a:blip r:embed="rId1"/>
          <a:stretch/>
        </p:blipFill>
        <p:spPr>
          <a:xfrm>
            <a:off x="685800" y="199836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2"/>
          <p:cNvSpPr/>
          <p:nvPr/>
        </p:nvSpPr>
        <p:spPr>
          <a:xfrm>
            <a:off x="685800" y="2475360"/>
            <a:ext cx="9043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Deployment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685800" y="2819880"/>
            <a:ext cx="24001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Distribuição eficiente de containers nos nós do cluster.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2" descr="preencoded.png"/>
          <p:cNvPicPr/>
          <p:nvPr/>
        </p:nvPicPr>
        <p:blipFill>
          <a:blip r:embed="rId2"/>
          <a:stretch/>
        </p:blipFill>
        <p:spPr>
          <a:xfrm>
            <a:off x="3371760" y="1998360"/>
            <a:ext cx="249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4"/>
          <p:cNvSpPr/>
          <p:nvPr/>
        </p:nvSpPr>
        <p:spPr>
          <a:xfrm>
            <a:off x="3371760" y="2475360"/>
            <a:ext cx="5101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Scaling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3371760" y="2819880"/>
            <a:ext cx="24001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Adicionar ou remover réplicas automaticamente sob demanda.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3" descr="preencoded.png"/>
          <p:cNvPicPr/>
          <p:nvPr/>
        </p:nvPicPr>
        <p:blipFill>
          <a:blip r:embed="rId3"/>
          <a:stretch/>
        </p:blipFill>
        <p:spPr>
          <a:xfrm>
            <a:off x="6058080" y="1998360"/>
            <a:ext cx="32112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6"/>
          <p:cNvSpPr/>
          <p:nvPr/>
        </p:nvSpPr>
        <p:spPr>
          <a:xfrm>
            <a:off x="6058080" y="2475360"/>
            <a:ext cx="8596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Self-healing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6058080" y="2819880"/>
            <a:ext cx="24001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Reiniciar containers que falham ou travam.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4" descr="preencoded.png"/>
          <p:cNvPicPr/>
          <p:nvPr/>
        </p:nvPicPr>
        <p:blipFill>
          <a:blip r:embed="rId4"/>
          <a:stretch/>
        </p:blipFill>
        <p:spPr>
          <a:xfrm>
            <a:off x="1228680" y="387540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8"/>
          <p:cNvSpPr/>
          <p:nvPr/>
        </p:nvSpPr>
        <p:spPr>
          <a:xfrm>
            <a:off x="1228680" y="4352400"/>
            <a:ext cx="1150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Rolling Updates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9"/>
          <p:cNvSpPr/>
          <p:nvPr/>
        </p:nvSpPr>
        <p:spPr>
          <a:xfrm>
            <a:off x="1228680" y="4696920"/>
            <a:ext cx="3200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Atualizações graduais sem downtime para o usuário.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5" descr="preencoded.png"/>
          <p:cNvPicPr/>
          <p:nvPr/>
        </p:nvPicPr>
        <p:blipFill>
          <a:blip r:embed="rId5"/>
          <a:stretch/>
        </p:blipFill>
        <p:spPr>
          <a:xfrm>
            <a:off x="4714920" y="387540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10"/>
          <p:cNvSpPr/>
          <p:nvPr/>
        </p:nvSpPr>
        <p:spPr>
          <a:xfrm>
            <a:off x="4714920" y="4352400"/>
            <a:ext cx="12790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Service Discovery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1"/>
          <p:cNvSpPr/>
          <p:nvPr/>
        </p:nvSpPr>
        <p:spPr>
          <a:xfrm>
            <a:off x="4714920" y="4696920"/>
            <a:ext cx="3200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DNS interno para encontrar serviços automaticamente.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71680" y="571680"/>
            <a:ext cx="32094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Arquitetura Cloud-Native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71680" y="1109160"/>
            <a:ext cx="2057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Os quatro pilares fundamentais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571680" y="1857240"/>
            <a:ext cx="42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900"/>
              </a:lnSpc>
              <a:tabLst>
                <a:tab algn="l" pos="0"/>
              </a:tabLst>
            </a:pPr>
            <a:r>
              <a:rPr lang="en-US" sz="3290" b="1" u="none" strike="noStrike">
                <a:solidFill>
                  <a:srgbClr val="0052cc">
                    <a:alpha val="30000"/>
                  </a:srgbClr>
                </a:solidFill>
                <a:effectLst/>
                <a:uFillTx/>
                <a:latin typeface="Calibri"/>
              </a:rPr>
              <a:t>01</a:t>
            </a:r>
            <a:endParaRPr lang="pt-B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1321560" y="1857240"/>
            <a:ext cx="11736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Containerização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321560" y="2202120"/>
            <a:ext cx="29642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Empacotamento imutável da aplicação com todas as suas dependências.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4857840" y="1857240"/>
            <a:ext cx="42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900"/>
              </a:lnSpc>
              <a:tabLst>
                <a:tab algn="l" pos="0"/>
              </a:tabLst>
            </a:pPr>
            <a:r>
              <a:rPr lang="en-US" sz="3290" b="1" u="none" strike="noStrike">
                <a:solidFill>
                  <a:srgbClr val="0052cc">
                    <a:alpha val="30000"/>
                  </a:srgbClr>
                </a:solidFill>
                <a:effectLst/>
                <a:uFillTx/>
                <a:latin typeface="Calibri"/>
              </a:rPr>
              <a:t>02</a:t>
            </a:r>
            <a:endParaRPr lang="pt-B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5608080" y="1857240"/>
            <a:ext cx="17154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Orquestração Dinâmica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"/>
          <p:cNvSpPr/>
          <p:nvPr/>
        </p:nvSpPr>
        <p:spPr>
          <a:xfrm>
            <a:off x="5608080" y="2202120"/>
            <a:ext cx="29642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Gerenciamento automatizado do ciclo de vida e escalabilidade (Kubernetes).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571680" y="3286080"/>
            <a:ext cx="42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900"/>
              </a:lnSpc>
              <a:tabLst>
                <a:tab algn="l" pos="0"/>
              </a:tabLst>
            </a:pPr>
            <a:r>
              <a:rPr lang="en-US" sz="3290" b="1" u="none" strike="noStrike">
                <a:solidFill>
                  <a:srgbClr val="0052cc">
                    <a:alpha val="30000"/>
                  </a:srgbClr>
                </a:solidFill>
                <a:effectLst/>
                <a:uFillTx/>
                <a:latin typeface="Calibri"/>
              </a:rPr>
              <a:t>03</a:t>
            </a:r>
            <a:endParaRPr lang="pt-B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1321560" y="3286080"/>
            <a:ext cx="10886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Microsserviços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1321560" y="3630960"/>
            <a:ext cx="29642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Decomposição em serviços pequenos, independentes e fracamente acoplados.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4857840" y="3286080"/>
            <a:ext cx="42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900"/>
              </a:lnSpc>
              <a:tabLst>
                <a:tab algn="l" pos="0"/>
              </a:tabLst>
            </a:pPr>
            <a:r>
              <a:rPr lang="en-US" sz="3290" b="1" u="none" strike="noStrike">
                <a:solidFill>
                  <a:srgbClr val="0052cc">
                    <a:alpha val="30000"/>
                  </a:srgbClr>
                </a:solidFill>
                <a:effectLst/>
                <a:uFillTx/>
                <a:latin typeface="Calibri"/>
              </a:rPr>
              <a:t>04</a:t>
            </a:r>
            <a:endParaRPr lang="pt-B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5608080" y="3286080"/>
            <a:ext cx="8434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Automação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5608080" y="3630960"/>
            <a:ext cx="29642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Pipelines de CI/CD contínuos para entrega rápida e frequente.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571680" y="4123800"/>
            <a:ext cx="8000640" cy="59076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857160" y="4321800"/>
            <a:ext cx="517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Resultado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3901320" y="4302360"/>
            <a:ext cx="3719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Aplicações rápidas, resilientes e infinitamente escaláveis.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26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0"/>
          <p:cNvSpPr/>
          <p:nvPr/>
        </p:nvSpPr>
        <p:spPr>
          <a:xfrm>
            <a:off x="571680" y="571680"/>
            <a:ext cx="28339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Padrões de Resiliência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571680" y="1109160"/>
            <a:ext cx="32864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Mantendo a estabilidade em sistemas distribuídos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571680" y="1771560"/>
            <a:ext cx="2315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Health Probes (Kubernetes)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1" descr="preencoded.png"/>
          <p:cNvPicPr/>
          <p:nvPr/>
        </p:nvPicPr>
        <p:blipFill>
          <a:blip r:embed="rId2"/>
          <a:stretch/>
        </p:blipFill>
        <p:spPr>
          <a:xfrm>
            <a:off x="571680" y="2459160"/>
            <a:ext cx="2246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3"/>
          <p:cNvSpPr/>
          <p:nvPr/>
        </p:nvSpPr>
        <p:spPr>
          <a:xfrm>
            <a:off x="939240" y="2384280"/>
            <a:ext cx="9385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Liveness Probe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939240" y="2653920"/>
            <a:ext cx="33465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container está vivo? Se falhar, o Kubernetes reinicia o container.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2" descr="preencoded.png"/>
          <p:cNvPicPr/>
          <p:nvPr/>
        </p:nvPicPr>
        <p:blipFill>
          <a:blip r:embed="rId3"/>
          <a:stretch/>
        </p:blipFill>
        <p:spPr>
          <a:xfrm>
            <a:off x="622440" y="3343320"/>
            <a:ext cx="12456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Text 5"/>
          <p:cNvSpPr/>
          <p:nvPr/>
        </p:nvSpPr>
        <p:spPr>
          <a:xfrm>
            <a:off x="941040" y="3268440"/>
            <a:ext cx="104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Readiness Probe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941040" y="3538080"/>
            <a:ext cx="33447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Pronto para receber tráfego? Se falhar, remove do Load Balancer.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3" descr="preencoded.png"/>
          <p:cNvPicPr/>
          <p:nvPr/>
        </p:nvPicPr>
        <p:blipFill>
          <a:blip r:embed="rId4"/>
          <a:stretch/>
        </p:blipFill>
        <p:spPr>
          <a:xfrm>
            <a:off x="588600" y="4227480"/>
            <a:ext cx="14976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7"/>
          <p:cNvSpPr/>
          <p:nvPr/>
        </p:nvSpPr>
        <p:spPr>
          <a:xfrm>
            <a:off x="898560" y="4152240"/>
            <a:ext cx="878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Startup Probe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898560" y="4421880"/>
            <a:ext cx="33872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aplicação iniciou? Protege aplicações lentas de serem mortas prematuramente.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4857840" y="1771560"/>
            <a:ext cx="123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Circuit Breaker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4857840" y="2384280"/>
            <a:ext cx="3714480" cy="28767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1"/>
          <p:cNvSpPr/>
          <p:nvPr/>
        </p:nvSpPr>
        <p:spPr>
          <a:xfrm>
            <a:off x="4857840" y="2384280"/>
            <a:ext cx="70920" cy="28767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5000760" y="2527200"/>
            <a:ext cx="34286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Evita falhas em cascata ao interromper chamadas para um serviço que está falhando repetidamente.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5000760" y="3377160"/>
            <a:ext cx="342864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Em vez de esperar o timeout, falha rápido e poupa recursos.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4"/>
          <p:cNvSpPr/>
          <p:nvPr/>
        </p:nvSpPr>
        <p:spPr>
          <a:xfrm>
            <a:off x="5157720" y="4320360"/>
            <a:ext cx="3790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Closed: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5667480" y="4320360"/>
            <a:ext cx="13640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Tudo normal, tráfego flui.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6"/>
          <p:cNvSpPr/>
          <p:nvPr/>
        </p:nvSpPr>
        <p:spPr>
          <a:xfrm>
            <a:off x="5157720" y="4622040"/>
            <a:ext cx="3168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Open: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5581080" y="4622040"/>
            <a:ext cx="19940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Falha detectada, bloqueia chamadas.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5157720" y="4923720"/>
            <a:ext cx="5630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Half-Open: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9"/>
          <p:cNvSpPr/>
          <p:nvPr/>
        </p:nvSpPr>
        <p:spPr>
          <a:xfrm>
            <a:off x="5921640" y="4923720"/>
            <a:ext cx="15534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Testa se o serviço recuperou.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571680" y="571680"/>
            <a:ext cx="20851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Observabilidade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71680" y="1109160"/>
            <a:ext cx="3008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 Tríade de Telemetria: Entendendo o sistema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71680" y="1771560"/>
            <a:ext cx="8000640" cy="32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571680" y="1771560"/>
            <a:ext cx="80006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1" descr="preencoded.png"/>
          <p:cNvPicPr/>
          <p:nvPr/>
        </p:nvPicPr>
        <p:blipFill>
          <a:blip r:embed="rId1"/>
          <a:stretch/>
        </p:blipFill>
        <p:spPr>
          <a:xfrm>
            <a:off x="785880" y="2121840"/>
            <a:ext cx="25668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4"/>
          <p:cNvSpPr/>
          <p:nvPr/>
        </p:nvSpPr>
        <p:spPr>
          <a:xfrm>
            <a:off x="785880" y="2737800"/>
            <a:ext cx="4190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1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Logs</a:t>
            </a:r>
            <a:endParaRPr lang="pt-B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5"/>
          <p:cNvSpPr/>
          <p:nvPr/>
        </p:nvSpPr>
        <p:spPr>
          <a:xfrm>
            <a:off x="785880" y="3159360"/>
            <a:ext cx="741240" cy="304920"/>
          </a:xfrm>
          <a:prstGeom prst="rect">
            <a:avLst/>
          </a:prstGeom>
          <a:solidFill>
            <a:srgbClr val="0052c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785880" y="3159360"/>
            <a:ext cx="6192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960" rIns="84960" tIns="42480" bIns="424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O quê?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785880" y="3607560"/>
            <a:ext cx="22309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Registros discretos de eventos com timestamp. Essencial para debugging detalhado de erros específicos.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785880" y="4772160"/>
            <a:ext cx="4921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Stack Comum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785880" y="4943520"/>
            <a:ext cx="15609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Fluentd → Elasticsearch → Kibana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2" descr="preencoded.png"/>
          <p:cNvPicPr/>
          <p:nvPr/>
        </p:nvPicPr>
        <p:blipFill>
          <a:blip r:embed="rId2"/>
          <a:stretch/>
        </p:blipFill>
        <p:spPr>
          <a:xfrm>
            <a:off x="3452760" y="2121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0"/>
          <p:cNvSpPr/>
          <p:nvPr/>
        </p:nvSpPr>
        <p:spPr>
          <a:xfrm>
            <a:off x="3452760" y="2737800"/>
            <a:ext cx="8344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1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Métricas</a:t>
            </a:r>
            <a:endParaRPr lang="pt-B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1"/>
          <p:cNvSpPr/>
          <p:nvPr/>
        </p:nvSpPr>
        <p:spPr>
          <a:xfrm>
            <a:off x="3452760" y="3159360"/>
            <a:ext cx="890280" cy="304920"/>
          </a:xfrm>
          <a:prstGeom prst="rect">
            <a:avLst/>
          </a:prstGeom>
          <a:solidFill>
            <a:srgbClr val="0052c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3452760" y="3159360"/>
            <a:ext cx="7164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960" rIns="84960" tIns="42480" bIns="424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Quanto?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3452760" y="3607560"/>
            <a:ext cx="22309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Dados numéricos agregados ao longo do tempo. Ideal para identificar tendências, picos e saúde geral.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3452760" y="4772160"/>
            <a:ext cx="4921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Stack Comum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3452760" y="494352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Prometheus → Grafana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7" name="Image 3" descr="preencoded.png"/>
          <p:cNvPicPr/>
          <p:nvPr/>
        </p:nvPicPr>
        <p:blipFill>
          <a:blip r:embed="rId3"/>
          <a:stretch/>
        </p:blipFill>
        <p:spPr>
          <a:xfrm>
            <a:off x="6119640" y="2121840"/>
            <a:ext cx="38556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Text 16"/>
          <p:cNvSpPr/>
          <p:nvPr/>
        </p:nvSpPr>
        <p:spPr>
          <a:xfrm>
            <a:off x="6119640" y="2737800"/>
            <a:ext cx="5972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lang="en-US" sz="181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Traces</a:t>
            </a:r>
            <a:endParaRPr lang="pt-B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6119640" y="3159360"/>
            <a:ext cx="696960" cy="304920"/>
          </a:xfrm>
          <a:prstGeom prst="rect">
            <a:avLst/>
          </a:prstGeom>
          <a:solidFill>
            <a:srgbClr val="0052c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8"/>
          <p:cNvSpPr/>
          <p:nvPr/>
        </p:nvSpPr>
        <p:spPr>
          <a:xfrm>
            <a:off x="6119640" y="3159360"/>
            <a:ext cx="58464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4960" rIns="84960" tIns="42480" bIns="4248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Onde?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9"/>
          <p:cNvSpPr/>
          <p:nvPr/>
        </p:nvSpPr>
        <p:spPr>
          <a:xfrm>
            <a:off x="6119640" y="3607560"/>
            <a:ext cx="22381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Rastreamento do caminho de uma requisição através de múltiplos microsserviços. Identifica gargalos.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6119640" y="4786200"/>
            <a:ext cx="4921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Stack Comum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6119640" y="4957920"/>
            <a:ext cx="6742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Jaeger / Zipkin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571680" y="571680"/>
            <a:ext cx="26064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CI/CD Automatizado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71680" y="1109160"/>
            <a:ext cx="30794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Do código à produção sem intervenção manual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714240" y="2057400"/>
            <a:ext cx="713880" cy="713880"/>
          </a:xfrm>
          <a:prstGeom prst="rect">
            <a:avLst/>
          </a:prstGeom>
          <a:solidFill>
            <a:srgbClr val="ffffff"/>
          </a:solidFill>
          <a:ln w="27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1" descr="preencoded.png"/>
          <p:cNvPicPr/>
          <p:nvPr/>
        </p:nvPicPr>
        <p:blipFill>
          <a:blip r:embed="rId1"/>
          <a:stretch/>
        </p:blipFill>
        <p:spPr>
          <a:xfrm>
            <a:off x="946440" y="2271600"/>
            <a:ext cx="249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 3"/>
          <p:cNvSpPr/>
          <p:nvPr/>
        </p:nvSpPr>
        <p:spPr>
          <a:xfrm>
            <a:off x="773280" y="2914560"/>
            <a:ext cx="595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1. Commit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4"/>
          <p:cNvSpPr/>
          <p:nvPr/>
        </p:nvSpPr>
        <p:spPr>
          <a:xfrm>
            <a:off x="428760" y="3200400"/>
            <a:ext cx="1285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Código enviado para o repositório Git.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1714680" y="2414520"/>
            <a:ext cx="4640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6"/>
          <p:cNvSpPr/>
          <p:nvPr/>
        </p:nvSpPr>
        <p:spPr>
          <a:xfrm>
            <a:off x="2464560" y="2057400"/>
            <a:ext cx="713880" cy="713880"/>
          </a:xfrm>
          <a:prstGeom prst="rect">
            <a:avLst/>
          </a:prstGeom>
          <a:solidFill>
            <a:srgbClr val="ffffff"/>
          </a:solidFill>
          <a:ln w="27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2" descr="preencoded.png"/>
          <p:cNvPicPr/>
          <p:nvPr/>
        </p:nvPicPr>
        <p:blipFill>
          <a:blip r:embed="rId2"/>
          <a:stretch/>
        </p:blipFill>
        <p:spPr>
          <a:xfrm>
            <a:off x="2643120" y="227160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7"/>
          <p:cNvSpPr/>
          <p:nvPr/>
        </p:nvSpPr>
        <p:spPr>
          <a:xfrm>
            <a:off x="2604240" y="2914560"/>
            <a:ext cx="434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2. Build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2178720" y="3200400"/>
            <a:ext cx="1285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Docker constrói a imagem do container.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9"/>
          <p:cNvSpPr/>
          <p:nvPr/>
        </p:nvSpPr>
        <p:spPr>
          <a:xfrm>
            <a:off x="3464640" y="2414520"/>
            <a:ext cx="4640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0"/>
          <p:cNvSpPr/>
          <p:nvPr/>
        </p:nvSpPr>
        <p:spPr>
          <a:xfrm>
            <a:off x="4214880" y="2057400"/>
            <a:ext cx="713880" cy="713880"/>
          </a:xfrm>
          <a:prstGeom prst="rect">
            <a:avLst/>
          </a:prstGeom>
          <a:solidFill>
            <a:srgbClr val="ffffff"/>
          </a:solidFill>
          <a:ln w="27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3" descr="preencoded.png"/>
          <p:cNvPicPr/>
          <p:nvPr/>
        </p:nvPicPr>
        <p:blipFill>
          <a:blip r:embed="rId3"/>
          <a:stretch/>
        </p:blipFill>
        <p:spPr>
          <a:xfrm>
            <a:off x="4429080" y="227160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1"/>
          <p:cNvSpPr/>
          <p:nvPr/>
        </p:nvSpPr>
        <p:spPr>
          <a:xfrm>
            <a:off x="4387680" y="2914560"/>
            <a:ext cx="368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3. Test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3929040" y="3200400"/>
            <a:ext cx="1285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Testes automatizados em ambiente isolado.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5214960" y="2414520"/>
            <a:ext cx="4640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4"/>
          <p:cNvSpPr/>
          <p:nvPr/>
        </p:nvSpPr>
        <p:spPr>
          <a:xfrm>
            <a:off x="5965200" y="2057400"/>
            <a:ext cx="713880" cy="713880"/>
          </a:xfrm>
          <a:prstGeom prst="rect">
            <a:avLst/>
          </a:prstGeom>
          <a:solidFill>
            <a:srgbClr val="ffffff"/>
          </a:solidFill>
          <a:ln w="27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4" descr="preencoded.png"/>
          <p:cNvPicPr/>
          <p:nvPr/>
        </p:nvPicPr>
        <p:blipFill>
          <a:blip r:embed="rId4"/>
          <a:stretch/>
        </p:blipFill>
        <p:spPr>
          <a:xfrm>
            <a:off x="6143760" y="227160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15"/>
          <p:cNvSpPr/>
          <p:nvPr/>
        </p:nvSpPr>
        <p:spPr>
          <a:xfrm>
            <a:off x="6113160" y="2914560"/>
            <a:ext cx="417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4. Push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6"/>
          <p:cNvSpPr/>
          <p:nvPr/>
        </p:nvSpPr>
        <p:spPr>
          <a:xfrm>
            <a:off x="5679360" y="3200400"/>
            <a:ext cx="1285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Imagem enviada para o Registry.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7"/>
          <p:cNvSpPr/>
          <p:nvPr/>
        </p:nvSpPr>
        <p:spPr>
          <a:xfrm>
            <a:off x="6965280" y="2414520"/>
            <a:ext cx="464040" cy="28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8"/>
          <p:cNvSpPr/>
          <p:nvPr/>
        </p:nvSpPr>
        <p:spPr>
          <a:xfrm>
            <a:off x="7715160" y="2057400"/>
            <a:ext cx="713880" cy="713880"/>
          </a:xfrm>
          <a:prstGeom prst="rect">
            <a:avLst/>
          </a:prstGeom>
          <a:solidFill>
            <a:srgbClr val="ffffff"/>
          </a:solidFill>
          <a:ln w="27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5" descr="preencoded.png"/>
          <p:cNvPicPr/>
          <p:nvPr/>
        </p:nvPicPr>
        <p:blipFill>
          <a:blip r:embed="rId5"/>
          <a:stretch/>
        </p:blipFill>
        <p:spPr>
          <a:xfrm>
            <a:off x="7929720" y="227160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19"/>
          <p:cNvSpPr/>
          <p:nvPr/>
        </p:nvSpPr>
        <p:spPr>
          <a:xfrm>
            <a:off x="7799760" y="2914560"/>
            <a:ext cx="545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5. Deploy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0"/>
          <p:cNvSpPr/>
          <p:nvPr/>
        </p:nvSpPr>
        <p:spPr>
          <a:xfrm>
            <a:off x="7429680" y="3200400"/>
            <a:ext cx="1285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Kubernetes atualiza os Pods (Rolling Update).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1"/>
          <p:cNvSpPr/>
          <p:nvPr/>
        </p:nvSpPr>
        <p:spPr>
          <a:xfrm>
            <a:off x="1652040" y="4441680"/>
            <a:ext cx="5839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lang="en-US" sz="149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Resultado: Mudanças em produção em </a:t>
            </a:r>
            <a:r>
              <a:rPr lang="en-US" sz="13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minutos</a:t>
            </a:r>
            <a:r>
              <a:rPr lang="en-US" sz="149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, com confiança e segurança.</a:t>
            </a:r>
            <a:endParaRPr lang="pt-BR" sz="1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571680" y="571680"/>
            <a:ext cx="8740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GitOps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71680" y="1109160"/>
            <a:ext cx="2250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Git como a única fonte da verdade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"/>
          <p:cNvSpPr/>
          <p:nvPr/>
        </p:nvSpPr>
        <p:spPr>
          <a:xfrm>
            <a:off x="571680" y="1914480"/>
            <a:ext cx="3714480" cy="78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"/>
          <p:cNvSpPr/>
          <p:nvPr/>
        </p:nvSpPr>
        <p:spPr>
          <a:xfrm>
            <a:off x="571680" y="1914480"/>
            <a:ext cx="42480" cy="781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1" descr="preencoded.png"/>
          <p:cNvPicPr/>
          <p:nvPr/>
        </p:nvPicPr>
        <p:blipFill>
          <a:blip r:embed="rId1"/>
          <a:stretch/>
        </p:blipFill>
        <p:spPr>
          <a:xfrm>
            <a:off x="816120" y="2178720"/>
            <a:ext cx="22464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4"/>
          <p:cNvSpPr/>
          <p:nvPr/>
        </p:nvSpPr>
        <p:spPr>
          <a:xfrm>
            <a:off x="1250280" y="2093040"/>
            <a:ext cx="823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Git Repository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1250280" y="2343240"/>
            <a:ext cx="17287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Manifestos YAML (Estado Desejado)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Image 2" descr="preencoded.png"/>
          <p:cNvPicPr/>
          <p:nvPr/>
        </p:nvPicPr>
        <p:blipFill>
          <a:blip r:embed="rId2"/>
          <a:stretch/>
        </p:blipFill>
        <p:spPr>
          <a:xfrm>
            <a:off x="2364480" y="2775240"/>
            <a:ext cx="1281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Shape 6"/>
          <p:cNvSpPr/>
          <p:nvPr/>
        </p:nvSpPr>
        <p:spPr>
          <a:xfrm>
            <a:off x="571680" y="2982600"/>
            <a:ext cx="3714480" cy="795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571680" y="2982600"/>
            <a:ext cx="42480" cy="7959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3" descr="preencoded.png"/>
          <p:cNvPicPr/>
          <p:nvPr/>
        </p:nvPicPr>
        <p:blipFill>
          <a:blip r:embed="rId3"/>
          <a:stretch/>
        </p:blipFill>
        <p:spPr>
          <a:xfrm>
            <a:off x="800280" y="325404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8"/>
          <p:cNvSpPr/>
          <p:nvPr/>
        </p:nvSpPr>
        <p:spPr>
          <a:xfrm>
            <a:off x="1250280" y="3161160"/>
            <a:ext cx="947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GitOps Operator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9"/>
          <p:cNvSpPr/>
          <p:nvPr/>
        </p:nvSpPr>
        <p:spPr>
          <a:xfrm>
            <a:off x="2653560" y="3182400"/>
            <a:ext cx="821160" cy="2066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0"/>
          <p:cNvSpPr/>
          <p:nvPr/>
        </p:nvSpPr>
        <p:spPr>
          <a:xfrm>
            <a:off x="2653560" y="3185640"/>
            <a:ext cx="821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ctr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ArgoCD / Flux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1"/>
          <p:cNvSpPr/>
          <p:nvPr/>
        </p:nvSpPr>
        <p:spPr>
          <a:xfrm>
            <a:off x="1250280" y="3425400"/>
            <a:ext cx="1662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Monitora e sincroniza (Pull Model)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4" descr="preencoded.png"/>
          <p:cNvPicPr/>
          <p:nvPr/>
        </p:nvPicPr>
        <p:blipFill>
          <a:blip r:embed="rId4"/>
          <a:stretch/>
        </p:blipFill>
        <p:spPr>
          <a:xfrm>
            <a:off x="2364480" y="3857400"/>
            <a:ext cx="1281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Shape 12"/>
          <p:cNvSpPr/>
          <p:nvPr/>
        </p:nvSpPr>
        <p:spPr>
          <a:xfrm>
            <a:off x="571680" y="4064760"/>
            <a:ext cx="3714480" cy="781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3"/>
          <p:cNvSpPr/>
          <p:nvPr/>
        </p:nvSpPr>
        <p:spPr>
          <a:xfrm>
            <a:off x="571680" y="4064760"/>
            <a:ext cx="42480" cy="781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5" descr="preencoded.png"/>
          <p:cNvPicPr/>
          <p:nvPr/>
        </p:nvPicPr>
        <p:blipFill>
          <a:blip r:embed="rId5"/>
          <a:stretch/>
        </p:blipFill>
        <p:spPr>
          <a:xfrm>
            <a:off x="800280" y="432900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14"/>
          <p:cNvSpPr/>
          <p:nvPr/>
        </p:nvSpPr>
        <p:spPr>
          <a:xfrm>
            <a:off x="1250280" y="4243320"/>
            <a:ext cx="1090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Kubernetes Cluster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1250280" y="4493520"/>
            <a:ext cx="1648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Aplicações rodando (Estado Atual)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Image 6" descr="preencoded.png"/>
          <p:cNvPicPr/>
          <p:nvPr/>
        </p:nvPicPr>
        <p:blipFill>
          <a:blip r:embed="rId6"/>
          <a:stretch/>
        </p:blipFill>
        <p:spPr>
          <a:xfrm>
            <a:off x="4857840" y="181908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16"/>
          <p:cNvSpPr/>
          <p:nvPr/>
        </p:nvSpPr>
        <p:spPr>
          <a:xfrm>
            <a:off x="5122080" y="1771560"/>
            <a:ext cx="1374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Auditabilidade Total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7"/>
          <p:cNvSpPr/>
          <p:nvPr/>
        </p:nvSpPr>
        <p:spPr>
          <a:xfrm>
            <a:off x="4857840" y="2094840"/>
            <a:ext cx="37144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464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Cada mudança no cluster é um commit. Você sabe exatamente quem mudou o quê e quando.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7" descr="preencoded.png"/>
          <p:cNvPicPr/>
          <p:nvPr/>
        </p:nvPicPr>
        <p:blipFill>
          <a:blip r:embed="rId7"/>
          <a:stretch/>
        </p:blipFill>
        <p:spPr>
          <a:xfrm>
            <a:off x="4857840" y="283212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18"/>
          <p:cNvSpPr/>
          <p:nvPr/>
        </p:nvSpPr>
        <p:spPr>
          <a:xfrm>
            <a:off x="5122080" y="2784960"/>
            <a:ext cx="1430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Rollback Instantâneo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9"/>
          <p:cNvSpPr/>
          <p:nvPr/>
        </p:nvSpPr>
        <p:spPr>
          <a:xfrm>
            <a:off x="4857840" y="3108240"/>
            <a:ext cx="37144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464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Deu problema? git revert. O operador detecta a mudança e restaura o estado anterior automaticamente.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Image 8" descr="preencoded.png"/>
          <p:cNvPicPr/>
          <p:nvPr/>
        </p:nvPicPr>
        <p:blipFill>
          <a:blip r:embed="rId8"/>
          <a:stretch/>
        </p:blipFill>
        <p:spPr>
          <a:xfrm>
            <a:off x="4857840" y="406548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20"/>
          <p:cNvSpPr/>
          <p:nvPr/>
        </p:nvSpPr>
        <p:spPr>
          <a:xfrm>
            <a:off x="5122080" y="4018320"/>
            <a:ext cx="1553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Segurança Aprimorada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1"/>
          <p:cNvSpPr/>
          <p:nvPr/>
        </p:nvSpPr>
        <p:spPr>
          <a:xfrm>
            <a:off x="4857840" y="4341600"/>
            <a:ext cx="37144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464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cluster não precisa de credenciais externas. Ele "puxa" as mudanças de dentro para fora.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0"/>
          <p:cNvSpPr/>
          <p:nvPr/>
        </p:nvSpPr>
        <p:spPr>
          <a:xfrm>
            <a:off x="571680" y="571680"/>
            <a:ext cx="29725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Infraestrutura Imutável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"/>
          <p:cNvSpPr/>
          <p:nvPr/>
        </p:nvSpPr>
        <p:spPr>
          <a:xfrm>
            <a:off x="571680" y="1109160"/>
            <a:ext cx="1602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Não conserte. Substitua.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"/>
          <p:cNvSpPr/>
          <p:nvPr/>
        </p:nvSpPr>
        <p:spPr>
          <a:xfrm>
            <a:off x="571680" y="1771560"/>
            <a:ext cx="3714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Mutável (Tradicional)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1" descr="preencoded.png"/>
          <p:cNvPicPr/>
          <p:nvPr/>
        </p:nvPicPr>
        <p:blipFill>
          <a:blip r:embed="rId1"/>
          <a:stretch/>
        </p:blipFill>
        <p:spPr>
          <a:xfrm>
            <a:off x="582120" y="248976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3"/>
          <p:cNvSpPr/>
          <p:nvPr/>
        </p:nvSpPr>
        <p:spPr>
          <a:xfrm>
            <a:off x="935640" y="2414520"/>
            <a:ext cx="335052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Atualizações e patches aplicados no servidor em execução.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2" descr="preencoded.png"/>
          <p:cNvPicPr/>
          <p:nvPr/>
        </p:nvPicPr>
        <p:blipFill>
          <a:blip r:embed="rId2"/>
          <a:stretch/>
        </p:blipFill>
        <p:spPr>
          <a:xfrm>
            <a:off x="571680" y="31438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4"/>
          <p:cNvSpPr/>
          <p:nvPr/>
        </p:nvSpPr>
        <p:spPr>
          <a:xfrm>
            <a:off x="914400" y="3069000"/>
            <a:ext cx="337140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Configuration Drift: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Servidores divergem ao longo do tempo. "Funciona na minha máquina" mas não em produção.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571680" y="4200480"/>
            <a:ext cx="3714480" cy="57132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3" descr="preencoded.png"/>
          <p:cNvPicPr/>
          <p:nvPr/>
        </p:nvPicPr>
        <p:blipFill>
          <a:blip r:embed="rId3"/>
          <a:stretch/>
        </p:blipFill>
        <p:spPr>
          <a:xfrm>
            <a:off x="714240" y="4379040"/>
            <a:ext cx="240840" cy="2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6"/>
          <p:cNvSpPr/>
          <p:nvPr/>
        </p:nvSpPr>
        <p:spPr>
          <a:xfrm>
            <a:off x="1062720" y="4389120"/>
            <a:ext cx="13964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Metáfora: Pets (Estimação)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7"/>
          <p:cNvSpPr/>
          <p:nvPr/>
        </p:nvSpPr>
        <p:spPr>
          <a:xfrm>
            <a:off x="4857840" y="1771560"/>
            <a:ext cx="3714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Imutável (Cloud-Native)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4" descr="preencoded.png"/>
          <p:cNvPicPr/>
          <p:nvPr/>
        </p:nvPicPr>
        <p:blipFill>
          <a:blip r:embed="rId4"/>
          <a:stretch/>
        </p:blipFill>
        <p:spPr>
          <a:xfrm>
            <a:off x="4857840" y="248976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8"/>
          <p:cNvSpPr/>
          <p:nvPr/>
        </p:nvSpPr>
        <p:spPr>
          <a:xfrm>
            <a:off x="5200560" y="2414520"/>
            <a:ext cx="33714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Nunca altere um container rodando. Construa uma nova imagem e faça o deploy.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5" descr="preencoded.png"/>
          <p:cNvPicPr/>
          <p:nvPr/>
        </p:nvPicPr>
        <p:blipFill>
          <a:blip r:embed="rId5"/>
          <a:stretch/>
        </p:blipFill>
        <p:spPr>
          <a:xfrm>
            <a:off x="4857840" y="314388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9"/>
          <p:cNvSpPr/>
          <p:nvPr/>
        </p:nvSpPr>
        <p:spPr>
          <a:xfrm>
            <a:off x="5200560" y="3069000"/>
            <a:ext cx="33714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Consistência: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O artefato testado em Staging é bit-a-bit idêntico ao de Produção.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4857840" y="4200480"/>
            <a:ext cx="3714480" cy="5713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1"/>
          <p:cNvSpPr/>
          <p:nvPr/>
        </p:nvSpPr>
        <p:spPr>
          <a:xfrm>
            <a:off x="5107680" y="4389120"/>
            <a:ext cx="122796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Metáfora: Cattle (Gado)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 0"/>
          <p:cNvSpPr/>
          <p:nvPr/>
        </p:nvSpPr>
        <p:spPr>
          <a:xfrm>
            <a:off x="571680" y="571680"/>
            <a:ext cx="28893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Alternativas ao Docker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"/>
          <p:cNvSpPr/>
          <p:nvPr/>
        </p:nvSpPr>
        <p:spPr>
          <a:xfrm>
            <a:off x="571680" y="1109160"/>
            <a:ext cx="24264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 ecossistema de container runtimes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"/>
          <p:cNvSpPr/>
          <p:nvPr/>
        </p:nvSpPr>
        <p:spPr>
          <a:xfrm>
            <a:off x="571680" y="1708920"/>
            <a:ext cx="15998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Ferramenta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3"/>
          <p:cNvSpPr/>
          <p:nvPr/>
        </p:nvSpPr>
        <p:spPr>
          <a:xfrm>
            <a:off x="2171880" y="1721520"/>
            <a:ext cx="2800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Descrição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"/>
          <p:cNvSpPr/>
          <p:nvPr/>
        </p:nvSpPr>
        <p:spPr>
          <a:xfrm>
            <a:off x="4971960" y="1721520"/>
            <a:ext cx="11998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Daemon?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5"/>
          <p:cNvSpPr/>
          <p:nvPr/>
        </p:nvSpPr>
        <p:spPr>
          <a:xfrm>
            <a:off x="6172200" y="1721520"/>
            <a:ext cx="24001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69920" anchor="ctr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Uso Ideal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Image 1" descr="preencoded.png"/>
          <p:cNvPicPr/>
          <p:nvPr/>
        </p:nvPicPr>
        <p:blipFill>
          <a:blip r:embed="rId1"/>
          <a:stretch/>
        </p:blipFill>
        <p:spPr>
          <a:xfrm>
            <a:off x="571680" y="241380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Text 6"/>
          <p:cNvSpPr/>
          <p:nvPr/>
        </p:nvSpPr>
        <p:spPr>
          <a:xfrm>
            <a:off x="857160" y="2381400"/>
            <a:ext cx="4424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Docker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7"/>
          <p:cNvSpPr/>
          <p:nvPr/>
        </p:nvSpPr>
        <p:spPr>
          <a:xfrm>
            <a:off x="2171880" y="2301120"/>
            <a:ext cx="2800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suíte completa. UX imbatível para devs.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5378760" y="2401200"/>
            <a:ext cx="386280" cy="212040"/>
          </a:xfrm>
          <a:prstGeom prst="rect">
            <a:avLst/>
          </a:prstGeom>
          <a:solidFill>
            <a:srgbClr val="ff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9"/>
          <p:cNvSpPr/>
          <p:nvPr/>
        </p:nvSpPr>
        <p:spPr>
          <a:xfrm>
            <a:off x="5378760" y="2401200"/>
            <a:ext cx="3862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34200" bIns="34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d32f2f"/>
                </a:solidFill>
                <a:effectLst/>
                <a:uFillTx/>
                <a:latin typeface="Calibri"/>
              </a:rPr>
              <a:t>Sim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0"/>
          <p:cNvSpPr/>
          <p:nvPr/>
        </p:nvSpPr>
        <p:spPr>
          <a:xfrm>
            <a:off x="6172200" y="2301120"/>
            <a:ext cx="2400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Desenvolvimento Local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2" descr="preencoded.png"/>
          <p:cNvPicPr/>
          <p:nvPr/>
        </p:nvPicPr>
        <p:blipFill>
          <a:blip r:embed="rId2"/>
          <a:stretch/>
        </p:blipFill>
        <p:spPr>
          <a:xfrm>
            <a:off x="571680" y="320652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11"/>
          <p:cNvSpPr/>
          <p:nvPr/>
        </p:nvSpPr>
        <p:spPr>
          <a:xfrm>
            <a:off x="857160" y="3174480"/>
            <a:ext cx="524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Podman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2"/>
          <p:cNvSpPr/>
          <p:nvPr/>
        </p:nvSpPr>
        <p:spPr>
          <a:xfrm>
            <a:off x="2171880" y="2909520"/>
            <a:ext cx="2800080" cy="7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1160" bIns="1911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Compatível com Docker, mas sem daemon e rootless.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3"/>
          <p:cNvSpPr/>
          <p:nvPr/>
        </p:nvSpPr>
        <p:spPr>
          <a:xfrm>
            <a:off x="5356080" y="3194280"/>
            <a:ext cx="431640" cy="21204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4"/>
          <p:cNvSpPr/>
          <p:nvPr/>
        </p:nvSpPr>
        <p:spPr>
          <a:xfrm>
            <a:off x="5356080" y="3194280"/>
            <a:ext cx="4316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34200" bIns="34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Não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5"/>
          <p:cNvSpPr/>
          <p:nvPr/>
        </p:nvSpPr>
        <p:spPr>
          <a:xfrm>
            <a:off x="6172200" y="3099960"/>
            <a:ext cx="2400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Segurança / HPC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 3" descr="preencoded.png"/>
          <p:cNvPicPr/>
          <p:nvPr/>
        </p:nvPicPr>
        <p:blipFill>
          <a:blip r:embed="rId3"/>
          <a:stretch/>
        </p:blipFill>
        <p:spPr>
          <a:xfrm>
            <a:off x="571680" y="3999600"/>
            <a:ext cx="149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16"/>
          <p:cNvSpPr/>
          <p:nvPr/>
        </p:nvSpPr>
        <p:spPr>
          <a:xfrm>
            <a:off x="793080" y="3967560"/>
            <a:ext cx="6825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containerd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7"/>
          <p:cNvSpPr/>
          <p:nvPr/>
        </p:nvSpPr>
        <p:spPr>
          <a:xfrm>
            <a:off x="2171880" y="3892680"/>
            <a:ext cx="2800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Runtime de baixo nível, padrão da indústria.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8"/>
          <p:cNvSpPr/>
          <p:nvPr/>
        </p:nvSpPr>
        <p:spPr>
          <a:xfrm>
            <a:off x="5378760" y="3987000"/>
            <a:ext cx="386280" cy="212040"/>
          </a:xfrm>
          <a:prstGeom prst="rect">
            <a:avLst/>
          </a:prstGeom>
          <a:solidFill>
            <a:srgbClr val="ff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9"/>
          <p:cNvSpPr/>
          <p:nvPr/>
        </p:nvSpPr>
        <p:spPr>
          <a:xfrm>
            <a:off x="5378760" y="3987000"/>
            <a:ext cx="3862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34200" bIns="34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d32f2f"/>
                </a:solidFill>
                <a:effectLst/>
                <a:uFillTx/>
                <a:latin typeface="Calibri"/>
              </a:rPr>
              <a:t>Sim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0"/>
          <p:cNvSpPr/>
          <p:nvPr/>
        </p:nvSpPr>
        <p:spPr>
          <a:xfrm>
            <a:off x="6172200" y="3892680"/>
            <a:ext cx="2400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Infraestrutura / K8s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4" descr="preencoded.png"/>
          <p:cNvPicPr/>
          <p:nvPr/>
        </p:nvPicPr>
        <p:blipFill>
          <a:blip r:embed="rId4"/>
          <a:stretch/>
        </p:blipFill>
        <p:spPr>
          <a:xfrm>
            <a:off x="571680" y="479268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21"/>
          <p:cNvSpPr/>
          <p:nvPr/>
        </p:nvSpPr>
        <p:spPr>
          <a:xfrm>
            <a:off x="814320" y="4760280"/>
            <a:ext cx="3574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CRI-O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2"/>
          <p:cNvSpPr/>
          <p:nvPr/>
        </p:nvSpPr>
        <p:spPr>
          <a:xfrm>
            <a:off x="2171880" y="4495320"/>
            <a:ext cx="2800080" cy="7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1160" bIns="1911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Runtime leve otimizado exclusivamente para K8s.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3"/>
          <p:cNvSpPr/>
          <p:nvPr/>
        </p:nvSpPr>
        <p:spPr>
          <a:xfrm>
            <a:off x="5378760" y="4780080"/>
            <a:ext cx="386280" cy="212040"/>
          </a:xfrm>
          <a:prstGeom prst="rect">
            <a:avLst/>
          </a:prstGeom>
          <a:solidFill>
            <a:srgbClr val="ff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4"/>
          <p:cNvSpPr/>
          <p:nvPr/>
        </p:nvSpPr>
        <p:spPr>
          <a:xfrm>
            <a:off x="5378760" y="4780080"/>
            <a:ext cx="38628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34200" bIns="34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d32f2f"/>
                </a:solidFill>
                <a:effectLst/>
                <a:uFillTx/>
                <a:latin typeface="Calibri"/>
              </a:rPr>
              <a:t>Sim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5"/>
          <p:cNvSpPr/>
          <p:nvPr/>
        </p:nvSpPr>
        <p:spPr>
          <a:xfrm>
            <a:off x="6172200" y="4685760"/>
            <a:ext cx="2400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95760" anchor="ctr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Kubernetes Puro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6"/>
          <p:cNvSpPr/>
          <p:nvPr/>
        </p:nvSpPr>
        <p:spPr>
          <a:xfrm>
            <a:off x="571680" y="4348800"/>
            <a:ext cx="8000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8"/>
          <p:cNvSpPr/>
          <p:nvPr/>
        </p:nvSpPr>
        <p:spPr>
          <a:xfrm>
            <a:off x="5220000" y="982440"/>
            <a:ext cx="3780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1640" bIns="-828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Nota:</a:t>
            </a:r>
            <a:r>
              <a:rPr lang="en-US" sz="939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Graças à </a:t>
            </a:r>
            <a:r>
              <a:rPr lang="en-US" sz="880" b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OCI (Open Container Initiative)</a:t>
            </a:r>
            <a:r>
              <a:rPr lang="en-US" sz="939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, imagens construídas com Docker rodam em qualquer um desses runtimes e vice-versa.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Text 0"/>
          <p:cNvSpPr/>
          <p:nvPr/>
        </p:nvSpPr>
        <p:spPr>
          <a:xfrm>
            <a:off x="571680" y="571680"/>
            <a:ext cx="27838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Desenvolvimento Ágil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571680" y="1109160"/>
            <a:ext cx="3002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Acelerando a entrega de valor com containers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2" name="Image 1" descr="preencoded.png"/>
          <p:cNvPicPr/>
          <p:nvPr/>
        </p:nvPicPr>
        <p:blipFill>
          <a:blip r:embed="rId1"/>
          <a:stretch/>
        </p:blipFill>
        <p:spPr>
          <a:xfrm>
            <a:off x="571680" y="1996560"/>
            <a:ext cx="37476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2"/>
          <p:cNvSpPr/>
          <p:nvPr/>
        </p:nvSpPr>
        <p:spPr>
          <a:xfrm>
            <a:off x="571680" y="2712960"/>
            <a:ext cx="17046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Paridade de Ambientes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"/>
          <p:cNvSpPr/>
          <p:nvPr/>
        </p:nvSpPr>
        <p:spPr>
          <a:xfrm>
            <a:off x="571680" y="3060000"/>
            <a:ext cx="2400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fim do </a:t>
            </a: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"funciona na minha máquina"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O mesmo container que roda no laptop do dev roda em produção.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5" name="Image 2" descr="preencoded.png"/>
          <p:cNvPicPr/>
          <p:nvPr/>
        </p:nvPicPr>
        <p:blipFill>
          <a:blip r:embed="rId2"/>
          <a:stretch/>
        </p:blipFill>
        <p:spPr>
          <a:xfrm>
            <a:off x="3371760" y="1996560"/>
            <a:ext cx="53532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4"/>
          <p:cNvSpPr/>
          <p:nvPr/>
        </p:nvSpPr>
        <p:spPr>
          <a:xfrm>
            <a:off x="3371760" y="2712960"/>
            <a:ext cx="17298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Onboarding Relâmpago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5"/>
          <p:cNvSpPr/>
          <p:nvPr/>
        </p:nvSpPr>
        <p:spPr>
          <a:xfrm>
            <a:off x="3371760" y="3060000"/>
            <a:ext cx="2400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Novos desenvolvedores produtivos no primeiro dia. Basta um </a:t>
            </a: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git clone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 </a:t>
            </a: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docker compose up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Image 3" descr="preencoded.png"/>
          <p:cNvPicPr/>
          <p:nvPr/>
        </p:nvPicPr>
        <p:blipFill>
          <a:blip r:embed="rId3"/>
          <a:stretch/>
        </p:blipFill>
        <p:spPr>
          <a:xfrm>
            <a:off x="6172200" y="1996560"/>
            <a:ext cx="42840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6"/>
          <p:cNvSpPr/>
          <p:nvPr/>
        </p:nvSpPr>
        <p:spPr>
          <a:xfrm>
            <a:off x="6172200" y="2712960"/>
            <a:ext cx="15357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Feedback Loop Curto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7"/>
          <p:cNvSpPr/>
          <p:nvPr/>
        </p:nvSpPr>
        <p:spPr>
          <a:xfrm>
            <a:off x="6172200" y="3060000"/>
            <a:ext cx="240012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Suba bancos de dados e filas em segundos para testes de integração isolados, sem depender de infraestrutura compartilhada.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7012440" y="4682880"/>
            <a:ext cx="957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Velocity &amp; Reliability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0"/>
          <p:cNvSpPr/>
          <p:nvPr/>
        </p:nvSpPr>
        <p:spPr>
          <a:xfrm>
            <a:off x="571680" y="571680"/>
            <a:ext cx="28674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Lab 1: Build Otimizado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571680" y="1109160"/>
            <a:ext cx="33973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Multi-Stage Build: O segredo das imagens pequenas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"/>
          <p:cNvSpPr/>
          <p:nvPr/>
        </p:nvSpPr>
        <p:spPr>
          <a:xfrm>
            <a:off x="571680" y="1571760"/>
            <a:ext cx="3857400" cy="28112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"/>
          <p:cNvSpPr/>
          <p:nvPr/>
        </p:nvSpPr>
        <p:spPr>
          <a:xfrm>
            <a:off x="571680" y="1571760"/>
            <a:ext cx="70920" cy="281124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571680" y="1571760"/>
            <a:ext cx="3857400" cy="21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4120" rIns="204120" tIns="204120" bIns="204120" anchor="t">
            <a:spAutoFit/>
          </a:bodyPr>
          <a:p>
            <a:r>
              <a:rPr lang="en-US" sz="939" b="0" i="1" u="none" strike="noStrike">
                <a:solidFill>
                  <a:srgbClr val="6272a4"/>
                </a:solidFill>
                <a:effectLst/>
                <a:uFillTx/>
                <a:latin typeface="Calibri"/>
              </a:rPr>
              <a:t># Estágio 1: Builder (Pesado)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FROM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golang:1.21</a:t>
            </a:r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AS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alibri"/>
              </a:rPr>
              <a:t>builder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WORKDIR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/app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COPY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. 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RUN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alibri"/>
              </a:rPr>
              <a:t>go build -o meu-app main.go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39" b="0" i="1" u="none" strike="noStrike">
                <a:solidFill>
                  <a:srgbClr val="6272a4"/>
                </a:solidFill>
                <a:effectLst/>
                <a:uFillTx/>
                <a:latin typeface="Calibri"/>
              </a:rPr>
              <a:t># Estágio 2: Produção (Leve)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FROM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alpine:latest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WORKDIR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/root/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39" b="0" i="1" u="none" strike="noStrike">
                <a:solidFill>
                  <a:srgbClr val="6272a4"/>
                </a:solidFill>
                <a:effectLst/>
                <a:uFillTx/>
                <a:latin typeface="Calibri"/>
              </a:rPr>
              <a:t># Copia APENAS o binário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COPY--from</a:t>
            </a:r>
            <a:r>
              <a:rPr lang="en-US" sz="939" b="0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=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alibri"/>
              </a:rPr>
              <a:t>builder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/app/meu-app 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ff79c6"/>
                </a:solidFill>
                <a:effectLst/>
                <a:uFillTx/>
                <a:latin typeface="Calibri"/>
              </a:rPr>
              <a:t>CMD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alibri"/>
              </a:rPr>
              <a:t>["./meu-app"]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4714920" y="1585800"/>
            <a:ext cx="256680" cy="256680"/>
          </a:xfrm>
          <a:prstGeom prst="ellipse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4714920" y="1644120"/>
            <a:ext cx="2566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5114880" y="1571760"/>
            <a:ext cx="1290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Estágio de Compilação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5114880" y="1821600"/>
            <a:ext cx="34570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Usa uma imagem completa (SDK) com compiladores e ferramentas. Gera o binário, mas é pesada.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4714920" y="2324520"/>
            <a:ext cx="256680" cy="256680"/>
          </a:xfrm>
          <a:prstGeom prst="ellipse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4714920" y="2382840"/>
            <a:ext cx="2566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5114880" y="2310120"/>
            <a:ext cx="717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Estágio Final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5114880" y="2560320"/>
            <a:ext cx="34570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Começa do zero (alpine ou scratch). Contém apenas o sistema operacional mínimo necessário.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4714920" y="3063240"/>
            <a:ext cx="256680" cy="256680"/>
          </a:xfrm>
          <a:prstGeom prst="ellipse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4"/>
          <p:cNvSpPr/>
          <p:nvPr/>
        </p:nvSpPr>
        <p:spPr>
          <a:xfrm>
            <a:off x="4714920" y="3121560"/>
            <a:ext cx="2566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5"/>
          <p:cNvSpPr/>
          <p:nvPr/>
        </p:nvSpPr>
        <p:spPr>
          <a:xfrm>
            <a:off x="5114880" y="3048840"/>
            <a:ext cx="808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Cópia Seletiva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6"/>
          <p:cNvSpPr/>
          <p:nvPr/>
        </p:nvSpPr>
        <p:spPr>
          <a:xfrm>
            <a:off x="5114880" y="3299040"/>
            <a:ext cx="34570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 comando COPY --from=builder traz apenas o artefato compilado, descartando o código fonte e o compilador.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7"/>
          <p:cNvSpPr/>
          <p:nvPr/>
        </p:nvSpPr>
        <p:spPr>
          <a:xfrm>
            <a:off x="4714920" y="4024800"/>
            <a:ext cx="3857400" cy="917640"/>
          </a:xfrm>
          <a:prstGeom prst="rect">
            <a:avLst/>
          </a:prstGeom>
          <a:solidFill>
            <a:srgbClr val="ffffff"/>
          </a:solidFill>
          <a:ln w="1836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8"/>
          <p:cNvSpPr/>
          <p:nvPr/>
        </p:nvSpPr>
        <p:spPr>
          <a:xfrm>
            <a:off x="4815000" y="4124880"/>
            <a:ext cx="15962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Resultado Final (Tamanho da Imagem)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4910040" y="4365720"/>
            <a:ext cx="6458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44336"/>
                </a:solidFill>
                <a:effectLst/>
                <a:uFillTx/>
                <a:latin typeface="Calibri"/>
              </a:rPr>
              <a:t>850 MB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0"/>
          <p:cNvSpPr/>
          <p:nvPr/>
        </p:nvSpPr>
        <p:spPr>
          <a:xfrm>
            <a:off x="5006520" y="4678560"/>
            <a:ext cx="4528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Single Stage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Image 1" descr="preencoded.png"/>
          <p:cNvPicPr/>
          <p:nvPr/>
        </p:nvPicPr>
        <p:blipFill>
          <a:blip r:embed="rId2"/>
          <a:stretch/>
        </p:blipFill>
        <p:spPr>
          <a:xfrm>
            <a:off x="6625080" y="450504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Text 21"/>
          <p:cNvSpPr/>
          <p:nvPr/>
        </p:nvSpPr>
        <p:spPr>
          <a:xfrm>
            <a:off x="7849080" y="4365720"/>
            <a:ext cx="543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4caf50"/>
                </a:solidFill>
                <a:effectLst/>
                <a:uFillTx/>
                <a:latin typeface="Calibri"/>
              </a:rPr>
              <a:t>15 MB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2"/>
          <p:cNvSpPr/>
          <p:nvPr/>
        </p:nvSpPr>
        <p:spPr>
          <a:xfrm>
            <a:off x="7902000" y="4678560"/>
            <a:ext cx="4374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Multi-Stage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 0"/>
          <p:cNvSpPr/>
          <p:nvPr/>
        </p:nvSpPr>
        <p:spPr>
          <a:xfrm>
            <a:off x="571680" y="571680"/>
            <a:ext cx="21387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Lab 2: Segurança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"/>
          <p:cNvSpPr/>
          <p:nvPr/>
        </p:nvSpPr>
        <p:spPr>
          <a:xfrm>
            <a:off x="571680" y="1109160"/>
            <a:ext cx="19764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Auditando imagens com scout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1" descr="preencoded.png"/>
          <p:cNvPicPr/>
          <p:nvPr/>
        </p:nvPicPr>
        <p:blipFill>
          <a:blip r:embed="rId1"/>
          <a:stretch/>
        </p:blipFill>
        <p:spPr>
          <a:xfrm>
            <a:off x="571680" y="165456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2"/>
          <p:cNvSpPr/>
          <p:nvPr/>
        </p:nvSpPr>
        <p:spPr>
          <a:xfrm>
            <a:off x="785880" y="1628640"/>
            <a:ext cx="4446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Objetivo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571680" y="1895040"/>
            <a:ext cx="28000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Identificar Vulnerabilidades e Exposições Comuns (CVEs) em uma imagem antiga.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Image 2" descr="preencoded.png"/>
          <p:cNvPicPr/>
          <p:nvPr/>
        </p:nvPicPr>
        <p:blipFill>
          <a:blip r:embed="rId2"/>
          <a:stretch/>
        </p:blipFill>
        <p:spPr>
          <a:xfrm>
            <a:off x="571680" y="286668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Text 4"/>
          <p:cNvSpPr/>
          <p:nvPr/>
        </p:nvSpPr>
        <p:spPr>
          <a:xfrm>
            <a:off x="785880" y="2840760"/>
            <a:ext cx="6012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Ferramenta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5"/>
          <p:cNvSpPr/>
          <p:nvPr/>
        </p:nvSpPr>
        <p:spPr>
          <a:xfrm>
            <a:off x="571680" y="3106800"/>
            <a:ext cx="28000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scout</a:t>
            </a: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: Scanner de segurança simples e abrangente para containers.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9"/>
          <p:cNvSpPr/>
          <p:nvPr/>
        </p:nvSpPr>
        <p:spPr>
          <a:xfrm>
            <a:off x="3420000" y="1628640"/>
            <a:ext cx="5152320" cy="22824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6" name=""/>
          <p:cNvPicPr/>
          <p:nvPr/>
        </p:nvPicPr>
        <p:blipFill>
          <a:blip r:embed="rId3"/>
          <a:stretch/>
        </p:blipFill>
        <p:spPr>
          <a:xfrm>
            <a:off x="3420000" y="1856880"/>
            <a:ext cx="5152320" cy="172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Text 0"/>
          <p:cNvSpPr/>
          <p:nvPr/>
        </p:nvSpPr>
        <p:spPr>
          <a:xfrm>
            <a:off x="571680" y="571680"/>
            <a:ext cx="30517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Recursos e Comunidade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571680" y="1109160"/>
            <a:ext cx="30564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Onde encontrar ajuda e continuar aprendendo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"/>
          <p:cNvSpPr/>
          <p:nvPr/>
        </p:nvSpPr>
        <p:spPr>
          <a:xfrm>
            <a:off x="571680" y="1771560"/>
            <a:ext cx="3940920" cy="2767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571680" y="1771560"/>
            <a:ext cx="3940920" cy="424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2" name="Image 1" descr="preencoded.png"/>
          <p:cNvPicPr/>
          <p:nvPr/>
        </p:nvPicPr>
        <p:blipFill>
          <a:blip r:embed="rId2"/>
          <a:stretch/>
        </p:blipFill>
        <p:spPr>
          <a:xfrm>
            <a:off x="857160" y="2094120"/>
            <a:ext cx="1746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Text 4"/>
          <p:cNvSpPr/>
          <p:nvPr/>
        </p:nvSpPr>
        <p:spPr>
          <a:xfrm>
            <a:off x="1139400" y="2057400"/>
            <a:ext cx="1609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Documentação Oficial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2" descr="preencoded.png"/>
          <p:cNvPicPr/>
          <p:nvPr/>
        </p:nvPicPr>
        <p:blipFill>
          <a:blip r:embed="rId3"/>
          <a:stretch/>
        </p:blipFill>
        <p:spPr>
          <a:xfrm>
            <a:off x="903600" y="257724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 5"/>
          <p:cNvSpPr/>
          <p:nvPr/>
        </p:nvSpPr>
        <p:spPr>
          <a:xfrm>
            <a:off x="1250280" y="2554920"/>
            <a:ext cx="10080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Kubernetes Docs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3236400" y="2564640"/>
            <a:ext cx="715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kubernetes.io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7" name="Image 3" descr="preencoded.png"/>
          <p:cNvPicPr/>
          <p:nvPr/>
        </p:nvPicPr>
        <p:blipFill>
          <a:blip r:embed="rId4"/>
          <a:stretch/>
        </p:blipFill>
        <p:spPr>
          <a:xfrm>
            <a:off x="892800" y="298980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Text 7"/>
          <p:cNvSpPr/>
          <p:nvPr/>
        </p:nvSpPr>
        <p:spPr>
          <a:xfrm>
            <a:off x="1250280" y="2967480"/>
            <a:ext cx="74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Docs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3044160" y="2977200"/>
            <a:ext cx="8640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docs.docker.com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4" descr="preencoded.png"/>
          <p:cNvPicPr/>
          <p:nvPr/>
        </p:nvPicPr>
        <p:blipFill>
          <a:blip r:embed="rId5"/>
          <a:stretch/>
        </p:blipFill>
        <p:spPr>
          <a:xfrm>
            <a:off x="903600" y="340236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9"/>
          <p:cNvSpPr/>
          <p:nvPr/>
        </p:nvSpPr>
        <p:spPr>
          <a:xfrm>
            <a:off x="1250280" y="3380040"/>
            <a:ext cx="984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CNCF Landscape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0"/>
          <p:cNvSpPr/>
          <p:nvPr/>
        </p:nvSpPr>
        <p:spPr>
          <a:xfrm>
            <a:off x="3677040" y="3389760"/>
            <a:ext cx="400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l.cncf.io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3" name="Image 5" descr="preencoded.png"/>
          <p:cNvPicPr/>
          <p:nvPr/>
        </p:nvPicPr>
        <p:blipFill>
          <a:blip r:embed="rId6"/>
          <a:stretch/>
        </p:blipFill>
        <p:spPr>
          <a:xfrm>
            <a:off x="863280" y="391212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Text 11"/>
          <p:cNvSpPr/>
          <p:nvPr/>
        </p:nvSpPr>
        <p:spPr>
          <a:xfrm>
            <a:off x="1148040" y="3782520"/>
            <a:ext cx="9525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Kubernetes Security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2"/>
          <p:cNvSpPr/>
          <p:nvPr/>
        </p:nvSpPr>
        <p:spPr>
          <a:xfrm>
            <a:off x="2101320" y="3899520"/>
            <a:ext cx="15667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k8s.io/docs/concepts/security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3"/>
          <p:cNvSpPr/>
          <p:nvPr/>
        </p:nvSpPr>
        <p:spPr>
          <a:xfrm>
            <a:off x="5084280" y="1771560"/>
            <a:ext cx="3487680" cy="2573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4"/>
          <p:cNvSpPr/>
          <p:nvPr/>
        </p:nvSpPr>
        <p:spPr>
          <a:xfrm>
            <a:off x="5084280" y="1771560"/>
            <a:ext cx="3487680" cy="424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8" name="Image 6" descr="preencoded.png"/>
          <p:cNvPicPr/>
          <p:nvPr/>
        </p:nvPicPr>
        <p:blipFill>
          <a:blip r:embed="rId7"/>
          <a:stretch/>
        </p:blipFill>
        <p:spPr>
          <a:xfrm>
            <a:off x="5370120" y="2094120"/>
            <a:ext cx="249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Text 15"/>
          <p:cNvSpPr/>
          <p:nvPr/>
        </p:nvSpPr>
        <p:spPr>
          <a:xfrm>
            <a:off x="5727240" y="2057400"/>
            <a:ext cx="9324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Comunidade</a:t>
            </a:r>
            <a:endParaRPr lang="pt-BR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7" descr="preencoded.png"/>
          <p:cNvPicPr/>
          <p:nvPr/>
        </p:nvPicPr>
        <p:blipFill>
          <a:blip r:embed="rId8"/>
          <a:stretch/>
        </p:blipFill>
        <p:spPr>
          <a:xfrm>
            <a:off x="5438160" y="2577240"/>
            <a:ext cx="149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16"/>
          <p:cNvSpPr/>
          <p:nvPr/>
        </p:nvSpPr>
        <p:spPr>
          <a:xfrm>
            <a:off x="5763240" y="2554920"/>
            <a:ext cx="1021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Kubernetes Slack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7"/>
          <p:cNvSpPr/>
          <p:nvPr/>
        </p:nvSpPr>
        <p:spPr>
          <a:xfrm>
            <a:off x="7468920" y="2564640"/>
            <a:ext cx="5929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slack.k8s.io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Image 8" descr="preencoded.png"/>
          <p:cNvPicPr/>
          <p:nvPr/>
        </p:nvPicPr>
        <p:blipFill>
          <a:blip r:embed="rId9"/>
          <a:stretch/>
        </p:blipFill>
        <p:spPr>
          <a:xfrm>
            <a:off x="5448960" y="2989800"/>
            <a:ext cx="1281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 18"/>
          <p:cNvSpPr/>
          <p:nvPr/>
        </p:nvSpPr>
        <p:spPr>
          <a:xfrm>
            <a:off x="5763240" y="2967480"/>
            <a:ext cx="9000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Stack Overflow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9"/>
          <p:cNvSpPr/>
          <p:nvPr/>
        </p:nvSpPr>
        <p:spPr>
          <a:xfrm>
            <a:off x="7081200" y="2977200"/>
            <a:ext cx="8600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tags: kubernetes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Image 9" descr="preencoded.png"/>
          <p:cNvPicPr/>
          <p:nvPr/>
        </p:nvPicPr>
        <p:blipFill>
          <a:blip r:embed="rId10"/>
          <a:stretch/>
        </p:blipFill>
        <p:spPr>
          <a:xfrm>
            <a:off x="5416560" y="340236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 20"/>
          <p:cNvSpPr/>
          <p:nvPr/>
        </p:nvSpPr>
        <p:spPr>
          <a:xfrm>
            <a:off x="5763240" y="3380040"/>
            <a:ext cx="863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CNCF YouTube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1"/>
          <p:cNvSpPr/>
          <p:nvPr/>
        </p:nvSpPr>
        <p:spPr>
          <a:xfrm>
            <a:off x="6994440" y="3389760"/>
            <a:ext cx="94896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youtube.com/cncf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9" name="Image 10" descr="preencoded.png"/>
          <p:cNvPicPr/>
          <p:nvPr/>
        </p:nvPicPr>
        <p:blipFill>
          <a:blip r:embed="rId11"/>
          <a:stretch/>
        </p:blipFill>
        <p:spPr>
          <a:xfrm>
            <a:off x="5427360" y="381492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Text 22"/>
          <p:cNvSpPr/>
          <p:nvPr/>
        </p:nvSpPr>
        <p:spPr>
          <a:xfrm>
            <a:off x="5763240" y="3792600"/>
            <a:ext cx="745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KubeWeekly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23"/>
          <p:cNvSpPr/>
          <p:nvPr/>
        </p:nvSpPr>
        <p:spPr>
          <a:xfrm>
            <a:off x="6902640" y="3802320"/>
            <a:ext cx="1012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cncf.io/kubeweekly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LibreOffice/25.8.4.2$Linux_X86_64 LibreOffice_project/0366609b1de41a39e1896ae41e33c673f2a73802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2025-12-29T18:47:20Z</dcterms:created>
  <dc:creator>PptxGenJS</dc:creator>
  <dc:description/>
  <dc:language>pt-BR</dc:language>
  <cp:lastModifiedBy/>
  <dcterms:modified xsi:type="dcterms:W3CDTF">2025-12-29T17:22:44Z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40</vt:r8>
  </property>
  <property fmtid="{D5CDD505-2E9C-101B-9397-08002B2CF9AE}" pid="3" name="PresentationFormat">
    <vt:lpwstr>On-screen Show (16:9)</vt:lpwstr>
  </property>
  <property fmtid="{D5CDD505-2E9C-101B-9397-08002B2CF9AE}" pid="4" name="Slides">
    <vt:r8>40</vt:r8>
  </property>
</Properties>
</file>